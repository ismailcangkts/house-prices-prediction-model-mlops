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5894246695b407a" /><Relationship Type="http://schemas.openxmlformats.org/officeDocument/2006/relationships/extended-properties" Target="/docProps/app.xml" Id="R09c062117f354ce6" /><Relationship Type="http://schemas.openxmlformats.org/officeDocument/2006/relationships/officeDocument" Target="/ppt/presentation.xml" Id="R8e9635944c734d6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14304f6f464a0f"/>
  </p:sldMasterIdLst>
  <p:notesMasterIdLst>
    <p:notesMasterId xmlns:r="http://schemas.openxmlformats.org/officeDocument/2006/relationships" r:id="R8ba3ad14135b4186"/>
  </p:notesMasterIdLst>
  <p:sldIdLst>
    <p:sldId xmlns:r="http://schemas.openxmlformats.org/officeDocument/2006/relationships" id="256" r:id="R3735f2fe8aa4400e"/>
    <p:sldId xmlns:r="http://schemas.openxmlformats.org/officeDocument/2006/relationships" id="257" r:id="R4845bdfd69144dd3"/>
    <p:sldId xmlns:r="http://schemas.openxmlformats.org/officeDocument/2006/relationships" id="258" r:id="R154d45c545db4c71"/>
    <p:sldId xmlns:r="http://schemas.openxmlformats.org/officeDocument/2006/relationships" id="259" r:id="Re8c69d4120d84dfc"/>
    <p:sldId xmlns:r="http://schemas.openxmlformats.org/officeDocument/2006/relationships" id="260" r:id="Rea20ffbb131a49e6"/>
    <p:sldId xmlns:r="http://schemas.openxmlformats.org/officeDocument/2006/relationships" id="261" r:id="Re7bca297efd84d10"/>
    <p:sldId xmlns:r="http://schemas.openxmlformats.org/officeDocument/2006/relationships" id="262" r:id="Rb24abfd147b24e91"/>
    <p:sldId xmlns:r="http://schemas.openxmlformats.org/officeDocument/2006/relationships" id="263" r:id="R98f876efb3534db2"/>
    <p:sldId xmlns:r="http://schemas.openxmlformats.org/officeDocument/2006/relationships" id="264" r:id="Rb159454502fd4a2b"/>
    <p:sldId xmlns:r="http://schemas.openxmlformats.org/officeDocument/2006/relationships" id="265" r:id="R077954dfb44f49c9"/>
    <p:sldId xmlns:r="http://schemas.openxmlformats.org/officeDocument/2006/relationships" id="266" r:id="R68b645c216bf471a"/>
    <p:sldId xmlns:r="http://schemas.openxmlformats.org/officeDocument/2006/relationships" id="267" r:id="R4a3dad1bd6f949b9"/>
    <p:sldId xmlns:r="http://schemas.openxmlformats.org/officeDocument/2006/relationships" id="268" r:id="R2933a64b040c415c"/>
    <p:sldId xmlns:r="http://schemas.openxmlformats.org/officeDocument/2006/relationships" id="269" r:id="R710ae256c57e4ad7"/>
    <p:sldId xmlns:r="http://schemas.openxmlformats.org/officeDocument/2006/relationships" id="270" r:id="R5a547c22887a4739"/>
    <p:sldId xmlns:r="http://schemas.openxmlformats.org/officeDocument/2006/relationships" id="271" r:id="R7745d928552f440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14304f6f464a0f" /><Relationship Type="http://schemas.openxmlformats.org/officeDocument/2006/relationships/theme" Target="/ppt/theme/theme1.xml" Id="R2d3ef10892e24e59" /><Relationship Type="http://schemas.openxmlformats.org/officeDocument/2006/relationships/notesMaster" Target="/ppt/notesMasters/notesMaster1.xml" Id="R8ba3ad14135b4186" /><Relationship Type="http://schemas.openxmlformats.org/officeDocument/2006/relationships/presProps" Target="/ppt/presProps.xml" Id="R5fe889727e1846d9" /><Relationship Type="http://schemas.openxmlformats.org/officeDocument/2006/relationships/viewProps" Target="/ppt/viewProps.xml" Id="R936592716eef4f02" /><Relationship Type="http://schemas.openxmlformats.org/officeDocument/2006/relationships/tableStyles" Target="/ppt/tableStyles.xml" Id="R66e75823bf4e485a" /><Relationship Type="http://schemas.openxmlformats.org/officeDocument/2006/relationships/slide" Target="/ppt/slides/slide1.xml" Id="R3735f2fe8aa4400e" /><Relationship Type="http://schemas.openxmlformats.org/officeDocument/2006/relationships/slide" Target="/ppt/slides/slide2.xml" Id="R4845bdfd69144dd3" /><Relationship Type="http://schemas.openxmlformats.org/officeDocument/2006/relationships/slide" Target="/ppt/slides/slide3.xml" Id="R154d45c545db4c71" /><Relationship Type="http://schemas.openxmlformats.org/officeDocument/2006/relationships/slide" Target="/ppt/slides/slide4.xml" Id="Re8c69d4120d84dfc" /><Relationship Type="http://schemas.openxmlformats.org/officeDocument/2006/relationships/slide" Target="/ppt/slides/slide5.xml" Id="Rea20ffbb131a49e6" /><Relationship Type="http://schemas.openxmlformats.org/officeDocument/2006/relationships/slide" Target="/ppt/slides/slide6.xml" Id="Re7bca297efd84d10" /><Relationship Type="http://schemas.openxmlformats.org/officeDocument/2006/relationships/slide" Target="/ppt/slides/slide7.xml" Id="Rb24abfd147b24e91" /><Relationship Type="http://schemas.openxmlformats.org/officeDocument/2006/relationships/slide" Target="/ppt/slides/slide8.xml" Id="R98f876efb3534db2" /><Relationship Type="http://schemas.openxmlformats.org/officeDocument/2006/relationships/slide" Target="/ppt/slides/slide9.xml" Id="Rb159454502fd4a2b" /><Relationship Type="http://schemas.openxmlformats.org/officeDocument/2006/relationships/slide" Target="/ppt/slides/slide10.xml" Id="R077954dfb44f49c9" /><Relationship Type="http://schemas.openxmlformats.org/officeDocument/2006/relationships/slide" Target="/ppt/slides/slide11.xml" Id="R68b645c216bf471a" /><Relationship Type="http://schemas.openxmlformats.org/officeDocument/2006/relationships/slide" Target="/ppt/slides/slide12.xml" Id="R4a3dad1bd6f949b9" /><Relationship Type="http://schemas.openxmlformats.org/officeDocument/2006/relationships/slide" Target="/ppt/slides/slide13.xml" Id="R2933a64b040c415c" /><Relationship Type="http://schemas.openxmlformats.org/officeDocument/2006/relationships/slide" Target="/ppt/slides/slide14.xml" Id="R710ae256c57e4ad7" /><Relationship Type="http://schemas.openxmlformats.org/officeDocument/2006/relationships/slide" Target="/ppt/slides/slide15.xml" Id="R5a547c22887a4739" /><Relationship Type="http://schemas.openxmlformats.org/officeDocument/2006/relationships/slide" Target="/ppt/slides/slide16.xml" Id="R7745d928552f440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0fd620ef9c646f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c0a585b5f134fa0" /><Relationship Type="http://schemas.openxmlformats.org/officeDocument/2006/relationships/notesMaster" Target="/ppt/notesMasters/notesMaster1.xml" Id="Rc81055e649734ae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6773c5a439648e0" /><Relationship Type="http://schemas.openxmlformats.org/officeDocument/2006/relationships/notesMaster" Target="/ppt/notesMasters/notesMaster1.xml" Id="R56f4697c8ba4464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44e4ea05698416a" /><Relationship Type="http://schemas.openxmlformats.org/officeDocument/2006/relationships/notesMaster" Target="/ppt/notesMasters/notesMaster1.xml" Id="Rd0fb673712dd427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2be74a5e4c24f11" /><Relationship Type="http://schemas.openxmlformats.org/officeDocument/2006/relationships/notesMaster" Target="/ppt/notesMasters/notesMaster1.xml" Id="R1f5ce9d4d5f842e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079c5528bf248d9" /><Relationship Type="http://schemas.openxmlformats.org/officeDocument/2006/relationships/notesMaster" Target="/ppt/notesMasters/notesMaster1.xml" Id="Rf365a5c8d0ae49d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b4ebe4a85ca4b16" /><Relationship Type="http://schemas.openxmlformats.org/officeDocument/2006/relationships/notesMaster" Target="/ppt/notesMasters/notesMaster1.xml" Id="Rf7147442ae9b453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3c6069e3f994d6f" /><Relationship Type="http://schemas.openxmlformats.org/officeDocument/2006/relationships/notesMaster" Target="/ppt/notesMasters/notesMaster1.xml" Id="Ra2e8a16a8cc04b4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cdbf4b4fe174531" /><Relationship Type="http://schemas.openxmlformats.org/officeDocument/2006/relationships/notesMaster" Target="/ppt/notesMasters/notesMaster1.xml" Id="R1de24918a50b492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20e7514b1ae4fc2" /><Relationship Type="http://schemas.openxmlformats.org/officeDocument/2006/relationships/notesMaster" Target="/ppt/notesMasters/notesMaster1.xml" Id="R3b54db6f1f9f488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4d1ea12cbc346de" /><Relationship Type="http://schemas.openxmlformats.org/officeDocument/2006/relationships/notesMaster" Target="/ppt/notesMasters/notesMaster1.xml" Id="Rce4fae69f56d4b1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feba4c29ab440d4" /><Relationship Type="http://schemas.openxmlformats.org/officeDocument/2006/relationships/notesMaster" Target="/ppt/notesMasters/notesMaster1.xml" Id="R80eb131263f8498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ebba3ec20f04f33" /><Relationship Type="http://schemas.openxmlformats.org/officeDocument/2006/relationships/notesMaster" Target="/ppt/notesMasters/notesMaster1.xml" Id="R717b8028dcd4470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e5a18d56286414e" /><Relationship Type="http://schemas.openxmlformats.org/officeDocument/2006/relationships/notesMaster" Target="/ppt/notesMasters/notesMaster1.xml" Id="Ra2fe5d04e5354bf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c058a47645448d2" /><Relationship Type="http://schemas.openxmlformats.org/officeDocument/2006/relationships/notesMaster" Target="/ppt/notesMasters/notesMaster1.xml" Id="Rc095b85d24e249c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03171ef8012417a" /><Relationship Type="http://schemas.openxmlformats.org/officeDocument/2006/relationships/notesMaster" Target="/ppt/notesMasters/notesMaster1.xml" Id="R6ba4187c518a49e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4bb0a1f0c934f2e" /><Relationship Type="http://schemas.openxmlformats.org/officeDocument/2006/relationships/notesMaster" Target="/ppt/notesMasters/notesMaster1.xml" Id="Rd5960e59af574b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dfc70103bf4dd4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7067d31dcbea4464" /><Relationship Type="http://schemas.openxmlformats.org/officeDocument/2006/relationships/slideLayout" Target="/ppt/slideLayouts/slideLayout2.xml" Id="Re21e4271aeb844b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21e4271aeb844b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9ce3384c70a4d66" /><Relationship Type="http://schemas.openxmlformats.org/officeDocument/2006/relationships/notesSlide" Target="/ppt/notesSlides/notesSlide1.xml" Id="R1d72e7ba592b4c8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097eb3f2cdb4f9a" /><Relationship Type="http://schemas.openxmlformats.org/officeDocument/2006/relationships/notesSlide" Target="/ppt/notesSlides/notesSlide2.xml" Id="R747303824ddc4d7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ad545f6a15d4b99" /><Relationship Type="http://schemas.openxmlformats.org/officeDocument/2006/relationships/notesSlide" Target="/ppt/notesSlides/notesSlide3.xml" Id="R878da34a65a7445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18b4c1124b74ca0" /><Relationship Type="http://schemas.openxmlformats.org/officeDocument/2006/relationships/notesSlide" Target="/ppt/notesSlides/notesSlide4.xml" Id="Ra086fccf12c1461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d65f2bec3924ff1" /><Relationship Type="http://schemas.openxmlformats.org/officeDocument/2006/relationships/notesSlide" Target="/ppt/notesSlides/notesSlide5.xml" Id="R3a5b53e683c44a3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3ed25fe60d74186" /><Relationship Type="http://schemas.openxmlformats.org/officeDocument/2006/relationships/notesSlide" Target="/ppt/notesSlides/notesSlide6.xml" Id="R5b6443fe1e63401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6315b70ba0947c1" /><Relationship Type="http://schemas.openxmlformats.org/officeDocument/2006/relationships/notesSlide" Target="/ppt/notesSlides/notesSlide7.xml" Id="Red59f8f58eaa4db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47a00cf49cd4aa6" /><Relationship Type="http://schemas.openxmlformats.org/officeDocument/2006/relationships/notesSlide" Target="/ppt/notesSlides/notesSlide8.xml" Id="R2ddb92a6e143473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428da05e8b44025" /><Relationship Type="http://schemas.openxmlformats.org/officeDocument/2006/relationships/notesSlide" Target="/ppt/notesSlides/notesSlide9.xml" Id="R7f0aedb8854745f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dc987cf02944b8f" /><Relationship Type="http://schemas.openxmlformats.org/officeDocument/2006/relationships/notesSlide" Target="/ppt/notesSlides/notesSlide10.xml" Id="R678a6c5e68484bc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db99c3b7bdc4403" /><Relationship Type="http://schemas.openxmlformats.org/officeDocument/2006/relationships/notesSlide" Target="/ppt/notesSlides/notesSlide11.xml" Id="R58d22fb218e940b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6df33af1bcc403d" /><Relationship Type="http://schemas.openxmlformats.org/officeDocument/2006/relationships/notesSlide" Target="/ppt/notesSlides/notesSlide12.xml" Id="R5a4c159a354b4fb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2c179cd35ae4ec4" /><Relationship Type="http://schemas.openxmlformats.org/officeDocument/2006/relationships/notesSlide" Target="/ppt/notesSlides/notesSlide13.xml" Id="R690ad3851d09465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3e22de13f654122" /><Relationship Type="http://schemas.openxmlformats.org/officeDocument/2006/relationships/notesSlide" Target="/ppt/notesSlides/notesSlide14.xml" Id="Re8c9bfe53dbe41c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3bfbc204a27444d" /><Relationship Type="http://schemas.openxmlformats.org/officeDocument/2006/relationships/notesSlide" Target="/ppt/notesSlides/notesSlide15.xml" Id="R8dba21c6a102426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d4aad272b25448d" /><Relationship Type="http://schemas.openxmlformats.org/officeDocument/2006/relationships/notesSlide" Target="/ppt/notesSlides/notesSlide16.xml" Id="R94558d9d5b5d48f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4FB06BAF-1263-42B3-A7C5-980BA0939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0967EA2F-67D9-4314-8891-7EB6FEC07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7DB476-14A4-4CC0-9E34-468CEACA2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"/>
            <a:ext cx="619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AB6B3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AAB6B3"/>
                </a:solidFill>
                <a:latin typeface="Avenir Next"/>
                <a:ea typeface="Avenir Next"/>
                <a:cs typeface="Avenir Next"/>
              </a:rPr>
              <a:t>AMES HOUSE PRICES · BASE MODEL GELİŞTİRME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3BCA43-561F-427E-BC15-0FB947153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657225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FAFAF7"/>
                </a:solidFill>
                <a:latin typeface="Baskerville"/>
                <a:ea typeface="Baskerville"/>
                <a:cs typeface="Baskerville"/>
              </a:defRPr>
            </a:pPr>
            <a:r>
              <a:rPr sz="4125" b="1">
                <a:solidFill>
                  <a:srgbClr val="FAFAF7"/>
                </a:solidFill>
                <a:latin typeface="Baskerville"/>
                <a:ea typeface="Baskerville"/>
                <a:cs typeface="Baskerville"/>
              </a:rPr>
              <a:t>Veriyi anlamadan</a:t>
            </a:r>
          </a:p>
          <a:p xmlns:a="http://schemas.openxmlformats.org/drawingml/2006/main">
            <a:pPr algn="l">
              <a:defRPr sz="4125" b="1">
                <a:solidFill>
                  <a:srgbClr val="FAFAF7"/>
                </a:solidFill>
                <a:latin typeface="Baskerville"/>
                <a:ea typeface="Baskerville"/>
                <a:cs typeface="Baskerville"/>
              </a:defRPr>
            </a:pPr>
            <a:r>
              <a:rPr sz="4125" b="1">
                <a:solidFill>
                  <a:srgbClr val="FAFAF7"/>
                </a:solidFill>
                <a:latin typeface="Baskerville"/>
                <a:ea typeface="Baskerville"/>
                <a:cs typeface="Baskerville"/>
              </a:rPr>
              <a:t>modele güvenilmez.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79CBA7-13E7-4B80-AF91-1B1AA79B8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581150"/>
            <a:ext cx="38290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0E8"/>
                </a:solidFill>
                <a:latin typeface="Baskerville"/>
                <a:ea typeface="Baskerville"/>
                <a:cs typeface="Baskerville"/>
              </a:defRPr>
            </a:pPr>
            <a:r>
              <a:rPr sz="1500" b="1">
                <a:solidFill>
                  <a:srgbClr val="F4F0E8"/>
                </a:solidFill>
                <a:latin typeface="Baskerville"/>
                <a:ea typeface="Baskerville"/>
                <a:cs typeface="Baskerville"/>
              </a:rPr>
              <a:t>Data cleaning, EDA, feature engineering deneyleri ve model karşılaştırmasıyla üretime hazır bir başlangıç çizgisi.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07B78F-25CD-4A2B-997E-0A7602503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1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B0F97E-9C1C-4B94-B5CE-A29FF823A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3395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59AEA1-0BD6-4611-BF6A-812DE9166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9110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AFAF7"/>
                </a:solidFill>
                <a:latin typeface="Baskerville"/>
                <a:ea typeface="Baskerville"/>
                <a:cs typeface="Baskerville"/>
              </a:defRPr>
            </a:pPr>
            <a:r>
              <a:rPr sz="1875" b="1">
                <a:solidFill>
                  <a:srgbClr val="FAFAF7"/>
                </a:solidFill>
                <a:latin typeface="Baskerville"/>
                <a:ea typeface="Baskerville"/>
                <a:cs typeface="Baskerville"/>
              </a:rPr>
              <a:t>1.451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931DE2-8402-4419-A939-71DA51D8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62575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CBD4D1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CBD4D1"/>
                </a:solidFill>
                <a:latin typeface="Avenir Next"/>
                <a:ea typeface="Avenir Next"/>
                <a:cs typeface="Avenir Next"/>
              </a:rPr>
              <a:t>TEMİZ GÖZLEM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F7A8F1-DF99-4E7B-95A0-AD4E98FED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34025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98A6A3"/>
                </a:solidFill>
                <a:latin typeface="Avenir Next"/>
                <a:ea typeface="Avenir Next"/>
                <a:cs typeface="Avenir Next"/>
              </a:defRPr>
            </a:pPr>
            <a:r>
              <a:rPr sz="615" b="0">
                <a:solidFill>
                  <a:srgbClr val="98A6A3"/>
                </a:solidFill>
                <a:latin typeface="Avenir Next"/>
                <a:ea typeface="Avenir Next"/>
                <a:cs typeface="Avenir Next"/>
              </a:rPr>
              <a:t>cleaned_train.csv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8883B7-EBBE-4487-850C-CF09E252E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93395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EFAAB3-EC26-4208-9655-12E62D263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499110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AFAF7"/>
                </a:solidFill>
                <a:latin typeface="Baskerville"/>
                <a:ea typeface="Baskerville"/>
                <a:cs typeface="Baskerville"/>
              </a:defRPr>
            </a:pPr>
            <a:r>
              <a:rPr sz="1875" b="1">
                <a:solidFill>
                  <a:srgbClr val="FAFAF7"/>
                </a:solidFill>
                <a:latin typeface="Baskerville"/>
                <a:ea typeface="Baskerville"/>
                <a:cs typeface="Baskerville"/>
              </a:rPr>
              <a:t>30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2A6278-38A1-455A-874E-9E83E7C92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5362575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CBD4D1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CBD4D1"/>
                </a:solidFill>
                <a:latin typeface="Avenir Next"/>
                <a:ea typeface="Avenir Next"/>
                <a:cs typeface="Avenir Next"/>
              </a:rPr>
              <a:t>MODEL FEATURE'I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7DBB32-7659-44BE-BD06-F12B2A17C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5534025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98A6A3"/>
                </a:solidFill>
                <a:latin typeface="Avenir Next"/>
                <a:ea typeface="Avenir Next"/>
                <a:cs typeface="Avenir Next"/>
              </a:defRPr>
            </a:pPr>
            <a:r>
              <a:rPr sz="615" b="0">
                <a:solidFill>
                  <a:srgbClr val="98A6A3"/>
                </a:solidFill>
                <a:latin typeface="Avenir Next"/>
                <a:ea typeface="Avenir Next"/>
                <a:cs typeface="Avenir Next"/>
              </a:rPr>
              <a:t>83 kolondan seçildi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C8197D-8B9D-4095-9BD8-CE3F6816B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93395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C1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A9550F-D893-4857-9E07-B8E9679DA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99110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AFAF7"/>
                </a:solidFill>
                <a:latin typeface="Baskerville"/>
                <a:ea typeface="Baskerville"/>
                <a:cs typeface="Baskerville"/>
              </a:defRPr>
            </a:pPr>
            <a:r>
              <a:rPr sz="1875" b="1">
                <a:solidFill>
                  <a:srgbClr val="FAFAF7"/>
                </a:solidFill>
                <a:latin typeface="Baskerville"/>
                <a:ea typeface="Baskerville"/>
                <a:cs typeface="Baskerville"/>
              </a:rPr>
              <a:t>1.88 → 0.12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AB7215-0FC5-4E05-85F8-D27D111C0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362575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CBD4D1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CBD4D1"/>
                </a:solidFill>
                <a:latin typeface="Avenir Next"/>
                <a:ea typeface="Avenir Next"/>
                <a:cs typeface="Avenir Next"/>
              </a:rPr>
              <a:t>HEDEF ÇARPIKLIĞI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040C04-9AA9-4A7A-8D22-AB94CE37A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534025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98A6A3"/>
                </a:solidFill>
                <a:latin typeface="Avenir Next"/>
                <a:ea typeface="Avenir Next"/>
                <a:cs typeface="Avenir Next"/>
              </a:defRPr>
            </a:pPr>
            <a:r>
              <a:rPr sz="615" b="0">
                <a:solidFill>
                  <a:srgbClr val="98A6A3"/>
                </a:solidFill>
                <a:latin typeface="Avenir Next"/>
                <a:ea typeface="Avenir Next"/>
                <a:cs typeface="Avenir Next"/>
              </a:rPr>
              <a:t>log1p sonrası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C77140-1877-494E-B56E-3E49A9460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93395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6E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D48241-0648-48BE-9939-DEC28D015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99110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AFAF7"/>
                </a:solidFill>
                <a:latin typeface="Baskerville"/>
                <a:ea typeface="Baskerville"/>
                <a:cs typeface="Baskerville"/>
              </a:defRPr>
            </a:pPr>
            <a:r>
              <a:rPr sz="1875" b="1">
                <a:solidFill>
                  <a:srgbClr val="FAFAF7"/>
                </a:solidFill>
                <a:latin typeface="Baskerville"/>
                <a:ea typeface="Baskerville"/>
                <a:cs typeface="Baskerville"/>
              </a:rPr>
              <a:t>$26.3K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3FEB5C-E84C-4867-8D99-47513282E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5362575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CBD4D1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CBD4D1"/>
                </a:solidFill>
                <a:latin typeface="Avenir Next"/>
                <a:ea typeface="Avenir Next"/>
                <a:cs typeface="Avenir Next"/>
              </a:rPr>
              <a:t>KAYITLI RIDGE RMSE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1BC6E4-65CA-4F15-A8A2-307E5FF7E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5534025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98A6A3"/>
                </a:solidFill>
                <a:latin typeface="Avenir Next"/>
                <a:ea typeface="Avenir Next"/>
                <a:cs typeface="Avenir Next"/>
              </a:defRPr>
            </a:pPr>
            <a:r>
              <a:rPr sz="615" b="0">
                <a:solidFill>
                  <a:srgbClr val="98A6A3"/>
                </a:solidFill>
                <a:latin typeface="Avenir Next"/>
                <a:ea typeface="Avenir Next"/>
                <a:cs typeface="Avenir Next"/>
              </a:rPr>
              <a:t>validation artifact</a:t>
            </a:r>
          </a:p>
        </p:txBody>
      </p:sp>
      <p:sp>
        <p:nvSpPr>
          <p:cNvPr id="2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8AD9064-3FE4-40D3-8428-B585DA85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1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CE3F0FA0-09D5-4D2C-BA20-BDCE67ABF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9906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0" b="0">
                <a:solidFill>
                  <a:srgbClr val="9CA9A6"/>
                </a:solidFill>
                <a:latin typeface="Avenir Next"/>
                <a:ea typeface="Avenir Next"/>
                <a:cs typeface="Avenir Next"/>
              </a:defRPr>
            </a:pPr>
            <a:r>
              <a:rPr sz="570" b="0">
                <a:solidFill>
                  <a:srgbClr val="9CA9A6"/>
                </a:solidFill>
                <a:latin typeface="Avenir Next"/>
                <a:ea typeface="Avenir Next"/>
                <a:cs typeface="Avenir Next"/>
              </a:rPr>
              <a:t>Kaynak: proje CSV/JSON artefaktları ve pipeline kodu · Ağustos 2026</a:t>
            </a:r>
          </a:p>
        </p:txBody>
      </p:sp>
      <p:sp>
        <p:nvSpPr>
          <p:cNvPr id="25" name="page-marker">
            <a:extLst xmlns:a="http://schemas.openxmlformats.org/drawingml/2006/main">
              <a:ext uri="{FF2B5EF4-FFF2-40B4-BE49-F238E27FC236}">
                <a16:creationId xmlns:a16="http://schemas.microsoft.com/office/drawing/2014/main" id="{2BE0FD95-51C8-4968-86C8-61808CE10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510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F4F0E8"/>
                </a:solidFill>
                <a:latin typeface="Baskerville"/>
                <a:ea typeface="Baskerville"/>
                <a:cs typeface="Baskerville"/>
              </a:defRPr>
            </a:pPr>
            <a:r>
              <a:rPr sz="788" b="1">
                <a:solidFill>
                  <a:srgbClr val="F4F0E8"/>
                </a:solidFill>
                <a:latin typeface="Baskerville"/>
                <a:ea typeface="Baskerville"/>
                <a:cs typeface="Baskervill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701395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DAADBC8F-B3C1-4C95-A87C-613BD81F9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2-marker">
            <a:extLst xmlns:a="http://schemas.openxmlformats.org/drawingml/2006/main">
              <a:ext uri="{FF2B5EF4-FFF2-40B4-BE49-F238E27FC236}">
                <a16:creationId xmlns:a16="http://schemas.microsoft.com/office/drawing/2014/main" id="{4FDAB243-D7AC-43AB-9689-0BC05E24E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2-label">
            <a:extLst xmlns:a="http://schemas.openxmlformats.org/drawingml/2006/main">
              <a:ext uri="{FF2B5EF4-FFF2-40B4-BE49-F238E27FC236}">
                <a16:creationId xmlns:a16="http://schemas.microsoft.com/office/drawing/2014/main" id="{660DDC62-5EFA-4E65-9F29-03689A805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06C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6706C"/>
                </a:solidFill>
                <a:latin typeface="Avenir Next"/>
                <a:ea typeface="Avenir Next"/>
                <a:cs typeface="Avenir Next"/>
              </a:rPr>
              <a:t>Y Ö N E T I C I   Ö Z E T I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CC103BE7-215B-4648-BB43-1579819C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90575"/>
            <a:ext cx="9620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2022"/>
                </a:solidFill>
                <a:latin typeface="Baskerville"/>
                <a:ea typeface="Baskerville"/>
                <a:cs typeface="Baskerville"/>
              </a:defRPr>
            </a:pPr>
            <a:r>
              <a:rPr sz="2700" b="1">
                <a:solidFill>
                  <a:srgbClr val="152022"/>
                </a:solidFill>
                <a:latin typeface="Baskerville"/>
                <a:ea typeface="Baskerville"/>
                <a:cs typeface="Baskerville"/>
              </a:rPr>
              <a:t>Dört bulgu, model tasarımının tamamını belirliyor.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469C74E-B3C3-46AA-9568-1D552A09B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5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51E387BC-C382-4E86-A63C-1A3986AA1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9906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0" b="0">
                <a:solidFill>
                  <a:srgbClr val="66706C"/>
                </a:solidFill>
                <a:latin typeface="Avenir Next"/>
                <a:ea typeface="Avenir Next"/>
                <a:cs typeface="Avenir Next"/>
              </a:defRPr>
            </a:pPr>
            <a:r>
              <a:rPr sz="570" b="0">
                <a:solidFill>
                  <a:srgbClr val="66706C"/>
                </a:solidFill>
                <a:latin typeface="Avenir Next"/>
                <a:ea typeface="Avenir Next"/>
                <a:cs typeface="Avenir Next"/>
              </a:rPr>
              <a:t>Kaynak: data.json · feature_engineering_report_tr.md</a:t>
            </a:r>
          </a:p>
        </p:txBody>
      </p:sp>
      <p:sp>
        <p:nvSpPr>
          <p:cNvPr id="7" name="page-marker">
            <a:extLst xmlns:a="http://schemas.openxmlformats.org/drawingml/2006/main">
              <a:ext uri="{FF2B5EF4-FFF2-40B4-BE49-F238E27FC236}">
                <a16:creationId xmlns:a16="http://schemas.microsoft.com/office/drawing/2014/main" id="{FF137913-3A79-42E7-BB97-B7AA154F3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510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66706C"/>
                </a:solidFill>
                <a:latin typeface="Baskerville"/>
                <a:ea typeface="Baskerville"/>
                <a:cs typeface="Baskerville"/>
              </a:defRPr>
            </a:pPr>
            <a:r>
              <a:rPr sz="788" b="1">
                <a:solidFill>
                  <a:srgbClr val="66706C"/>
                </a:solidFill>
                <a:latin typeface="Baskerville"/>
                <a:ea typeface="Baskerville"/>
                <a:cs typeface="Baskerville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B42E35-AD25-4AC9-B2BE-6D1619216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09800"/>
            <a:ext cx="2381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0" b="1">
                <a:solidFill>
                  <a:srgbClr val="1F7A63"/>
                </a:solidFill>
                <a:latin typeface="Baskerville"/>
                <a:ea typeface="Baskerville"/>
                <a:cs typeface="Baskerville"/>
              </a:defRPr>
            </a:pPr>
            <a:r>
              <a:rPr sz="6900" b="1">
                <a:solidFill>
                  <a:srgbClr val="1F7A63"/>
                </a:solidFill>
                <a:latin typeface="Baskerville"/>
                <a:ea typeface="Baskerville"/>
                <a:cs typeface="Baskerville"/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6805AE-679F-4169-8CAD-124F22FC4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25241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2022"/>
                </a:solidFill>
                <a:latin typeface="Baskerville"/>
                <a:ea typeface="Baskerville"/>
                <a:cs typeface="Baskerville"/>
              </a:defRPr>
            </a:pPr>
            <a:r>
              <a:rPr sz="1650" b="1">
                <a:solidFill>
                  <a:srgbClr val="152022"/>
                </a:solidFill>
                <a:latin typeface="Baskerville"/>
                <a:ea typeface="Baskerville"/>
                <a:cs typeface="Baskerville"/>
              </a:rPr>
              <a:t>kanıta dayalı</a:t>
            </a:r>
          </a:p>
          <a:p xmlns:a="http://schemas.openxmlformats.org/drawingml/2006/main">
            <a:pPr algn="l">
              <a:defRPr sz="1650" b="1">
                <a:solidFill>
                  <a:srgbClr val="152022"/>
                </a:solidFill>
                <a:latin typeface="Baskerville"/>
                <a:ea typeface="Baskerville"/>
                <a:cs typeface="Baskerville"/>
              </a:defRPr>
            </a:pPr>
            <a:r>
              <a:rPr sz="1650" b="1">
                <a:solidFill>
                  <a:srgbClr val="152022"/>
                </a:solidFill>
                <a:latin typeface="Baskerville"/>
                <a:ea typeface="Baskerville"/>
                <a:cs typeface="Baskerville"/>
              </a:rPr>
              <a:t>tasarım kararı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643D4C-660A-4033-B987-397AB9518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2571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6C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66706C"/>
                </a:solidFill>
                <a:latin typeface="Avenir Next"/>
                <a:ea typeface="Avenir Next"/>
                <a:cs typeface="Avenir Next"/>
              </a:rPr>
              <a:t>Modelin başarısı algoritma seçiminden önce veri anlamının korunmasına bağlı.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791866-CF34-4756-B570-76219DF5B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240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6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C31C2B-9A98-4E87-8B14-57E655F48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209800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F7A63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1F7A63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118E8F-F78E-4633-A726-6337343F2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76450"/>
            <a:ext cx="2266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Hedef dönüşümü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D8BDEC-156F-48F5-9EF0-A1DF6B446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076450"/>
            <a:ext cx="4057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66706C"/>
                </a:solidFill>
                <a:latin typeface="Avenir Next"/>
                <a:ea typeface="Avenir Next"/>
                <a:cs typeface="Avenir Next"/>
              </a:defRPr>
            </a:pPr>
            <a:r>
              <a:rPr sz="915" b="0">
                <a:solidFill>
                  <a:srgbClr val="66706C"/>
                </a:solidFill>
                <a:latin typeface="Avenir Next"/>
                <a:ea typeface="Avenir Next"/>
                <a:cs typeface="Avenir Next"/>
              </a:rPr>
              <a:t>SalePrice çarpıklığı 1.88; log1p sonrası 0.12.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3B03AA-8793-4A13-9BB7-14038601A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47950"/>
            <a:ext cx="647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5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9B4EA3-55DE-4C10-A3F5-A4211DFC6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194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6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42B331-D926-417A-ADD1-39ACEDD32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05150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F7A63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1F7A63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009442-65C3-4FAA-B3AE-78E338680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971800"/>
            <a:ext cx="2266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Sinyalin kaynağı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0ADDF2-B72B-4A52-A138-253EFD82B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971800"/>
            <a:ext cx="4057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66706C"/>
                </a:solidFill>
                <a:latin typeface="Avenir Next"/>
                <a:ea typeface="Avenir Next"/>
                <a:cs typeface="Avenir Next"/>
              </a:defRPr>
            </a:pPr>
            <a:r>
              <a:rPr sz="915" b="0">
                <a:solidFill>
                  <a:srgbClr val="66706C"/>
                </a:solidFill>
                <a:latin typeface="Avenir Next"/>
                <a:ea typeface="Avenir Next"/>
                <a:cs typeface="Avenir Next"/>
              </a:rPr>
              <a:t>OverallQual r=0.79, GrLivArea r=0.71 ile öne çıkıyor.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207879-3408-4E6D-81D4-A0A24C420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543300"/>
            <a:ext cx="647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5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6ED3BB-E5EC-4AB8-A976-444BDBA42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9147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6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6329FB-1A3D-4E68-A75B-086E566EE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000500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F7A63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1F7A63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DB9C59-5ED8-4EAD-B865-53CFA1CFE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867150"/>
            <a:ext cx="2266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Feature disiplini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62F7D1-03FA-4808-BA8D-FB3F186F6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867150"/>
            <a:ext cx="4057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66706C"/>
                </a:solidFill>
                <a:latin typeface="Avenir Next"/>
                <a:ea typeface="Avenir Next"/>
                <a:cs typeface="Avenir Next"/>
              </a:defRPr>
            </a:pPr>
            <a:r>
              <a:rPr sz="915" b="0">
                <a:solidFill>
                  <a:srgbClr val="66706C"/>
                </a:solidFill>
                <a:latin typeface="Avenir Next"/>
                <a:ea typeface="Avenir Next"/>
                <a:cs typeface="Avenir Next"/>
              </a:rPr>
              <a:t>7 feature grubunun hiçbiri RMSE ve MAE'yi validation + testte birlikte iyileştirmedi.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3AB217-E583-4C22-B645-95E6079CF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438650"/>
            <a:ext cx="647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5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81F68A-9A33-46CD-B595-6C5019277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8101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7F1D5B-551C-432D-9C23-272EC9277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895850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AFAF7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FAFAF7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515421-1A22-4D92-AB10-D75C759B4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762500"/>
            <a:ext cx="2266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Baz model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EC4674-87BF-4483-9F78-CE6132D7F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762500"/>
            <a:ext cx="4057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66706C"/>
                </a:solidFill>
                <a:latin typeface="Avenir Next"/>
                <a:ea typeface="Avenir Next"/>
                <a:cs typeface="Avenir Next"/>
              </a:defRPr>
            </a:pPr>
            <a:r>
              <a:rPr sz="915" b="0">
                <a:solidFill>
                  <a:srgbClr val="66706C"/>
                </a:solidFill>
                <a:latin typeface="Avenir Next"/>
                <a:ea typeface="Avenir Next"/>
                <a:cs typeface="Avenir Next"/>
              </a:rPr>
              <a:t>Ridge kayıtlı RMSE $26.3K; yeni benchmark'ta lineer modeller testte en kararlı grup.</a:t>
            </a:r>
          </a:p>
        </p:txBody>
      </p:sp>
    </p:spTree>
    <p:extLst>
      <p:ext uri="{BB962C8B-B14F-4D97-AF65-F5344CB8AC3E}">
        <p14:creationId xmlns:p14="http://schemas.microsoft.com/office/powerpoint/2010/main" val="139178196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02216524-C393-44B7-8336-79A6E654B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3-marker">
            <a:extLst xmlns:a="http://schemas.openxmlformats.org/drawingml/2006/main">
              <a:ext uri="{FF2B5EF4-FFF2-40B4-BE49-F238E27FC236}">
                <a16:creationId xmlns:a16="http://schemas.microsoft.com/office/drawing/2014/main" id="{923AFB68-1E22-484E-A8BD-8F3D31204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3-label">
            <a:extLst xmlns:a="http://schemas.openxmlformats.org/drawingml/2006/main">
              <a:ext uri="{FF2B5EF4-FFF2-40B4-BE49-F238E27FC236}">
                <a16:creationId xmlns:a16="http://schemas.microsoft.com/office/drawing/2014/main" id="{311E2905-63E8-43A4-BFD9-61EB6DC4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06C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6706C"/>
                </a:solidFill>
                <a:latin typeface="Avenir Next"/>
                <a:ea typeface="Avenir Next"/>
                <a:cs typeface="Avenir Next"/>
              </a:rPr>
              <a:t>V E R I   D I S I P L I N I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204156B6-783F-4E15-B244-24861D40F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90575"/>
            <a:ext cx="9620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2022"/>
                </a:solidFill>
                <a:latin typeface="Baskerville"/>
                <a:ea typeface="Baskerville"/>
                <a:cs typeface="Baskerville"/>
              </a:defRPr>
            </a:pPr>
            <a:r>
              <a:rPr sz="2700" b="1">
                <a:solidFill>
                  <a:srgbClr val="152022"/>
                </a:solidFill>
                <a:latin typeface="Baskerville"/>
                <a:ea typeface="Baskerville"/>
                <a:cs typeface="Baskerville"/>
              </a:rPr>
              <a:t>1.451 gözlem beş amaç için ayrılarak leakage riski kontrol edildi.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31D01112-7591-45B5-97D5-3B5978382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5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0F7A692D-B899-4E08-BAF9-1A5187013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9906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0" b="0">
                <a:solidFill>
                  <a:srgbClr val="66706C"/>
                </a:solidFill>
                <a:latin typeface="Avenir Next"/>
                <a:ea typeface="Avenir Next"/>
                <a:cs typeface="Avenir Next"/>
              </a:defRPr>
            </a:pPr>
            <a:r>
              <a:rPr sz="570" b="0">
                <a:solidFill>
                  <a:srgbClr val="66706C"/>
                </a:solidFill>
                <a:latin typeface="Avenir Next"/>
                <a:ea typeface="Avenir Next"/>
                <a:cs typeface="Avenir Next"/>
              </a:rPr>
              <a:t>Kaynak: data/manifest.csv · scripts/split_dataset.py</a:t>
            </a:r>
          </a:p>
        </p:txBody>
      </p:sp>
      <p:sp>
        <p:nvSpPr>
          <p:cNvPr id="7" name="page-marker">
            <a:extLst xmlns:a="http://schemas.openxmlformats.org/drawingml/2006/main">
              <a:ext uri="{FF2B5EF4-FFF2-40B4-BE49-F238E27FC236}">
                <a16:creationId xmlns:a16="http://schemas.microsoft.com/office/drawing/2014/main" id="{F70B9299-96D7-4DD0-82D6-E1861C68E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510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66706C"/>
                </a:solidFill>
                <a:latin typeface="Baskerville"/>
                <a:ea typeface="Baskerville"/>
                <a:cs typeface="Baskerville"/>
              </a:defRPr>
            </a:pPr>
            <a:r>
              <a:rPr sz="788" b="1">
                <a:solidFill>
                  <a:srgbClr val="66706C"/>
                </a:solidFill>
                <a:latin typeface="Baskerville"/>
                <a:ea typeface="Baskerville"/>
                <a:cs typeface="Baskerville"/>
              </a:rPr>
              <a:t>03</a:t>
            </a:r>
          </a:p>
        </p:txBody>
      </p:sp>
      <p:sp>
        <p:nvSpPr>
          <p:cNvPr id="8" name="split-1">
            <a:extLst xmlns:a="http://schemas.openxmlformats.org/drawingml/2006/main">
              <a:ext uri="{FF2B5EF4-FFF2-40B4-BE49-F238E27FC236}">
                <a16:creationId xmlns:a16="http://schemas.microsoft.com/office/drawing/2014/main" id="{506D96F0-32D4-4DAA-964F-AC28CAA10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14600"/>
            <a:ext cx="5961324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379E3D-34FD-4254-915A-EED14EF7D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5808924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AFAF7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FAFAF7"/>
                </a:solidFill>
                <a:latin typeface="Avenir Next"/>
                <a:ea typeface="Avenir Next"/>
                <a:cs typeface="Avenir Next"/>
              </a:rPr>
              <a:t>TRAIN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E747A5-D005-4709-AD78-0E240DE2C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5808924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AFAF7"/>
                </a:solidFill>
                <a:latin typeface="Baskerville"/>
                <a:ea typeface="Baskerville"/>
                <a:cs typeface="Baskerville"/>
              </a:defRPr>
            </a:pPr>
            <a:r>
              <a:rPr sz="2100" b="1">
                <a:solidFill>
                  <a:srgbClr val="FAFAF7"/>
                </a:solidFill>
                <a:latin typeface="Baskerville"/>
                <a:ea typeface="Baskerville"/>
                <a:cs typeface="Baskerville"/>
              </a:rPr>
              <a:t>798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982B8C-7532-4632-BA68-DBEA2D96D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95650"/>
            <a:ext cx="5808924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E9EFED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E9EFED"/>
                </a:solidFill>
                <a:latin typeface="Avenir Next"/>
                <a:ea typeface="Avenir Next"/>
                <a:cs typeface="Avenir Next"/>
              </a:rPr>
              <a:t>55%</a:t>
            </a:r>
          </a:p>
        </p:txBody>
      </p:sp>
      <p:sp>
        <p:nvSpPr>
          <p:cNvPr id="12" name="split-2">
            <a:extLst xmlns:a="http://schemas.openxmlformats.org/drawingml/2006/main">
              <a:ext uri="{FF2B5EF4-FFF2-40B4-BE49-F238E27FC236}">
                <a16:creationId xmlns:a16="http://schemas.microsoft.com/office/drawing/2014/main" id="{0C44A20E-9F5C-4527-86E9-63821646C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8074" y="2514600"/>
            <a:ext cx="1628532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6E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ED1703-419B-4151-8E1A-B7ED80DE7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4274" y="2686050"/>
            <a:ext cx="1476132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FAFAF7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FAFAF7"/>
                </a:solidFill>
                <a:latin typeface="Avenir Next"/>
                <a:ea typeface="Avenir Next"/>
                <a:cs typeface="Avenir Next"/>
              </a:rPr>
              <a:t>VALIDATION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C6A45D-2AD9-4180-BC29-17E8CAFF1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4274" y="2952750"/>
            <a:ext cx="1476132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AFAF7"/>
                </a:solidFill>
                <a:latin typeface="Baskerville"/>
                <a:ea typeface="Baskerville"/>
                <a:cs typeface="Baskerville"/>
              </a:defRPr>
            </a:pPr>
            <a:r>
              <a:rPr sz="1575" b="1">
                <a:solidFill>
                  <a:srgbClr val="FAFAF7"/>
                </a:solidFill>
                <a:latin typeface="Baskerville"/>
                <a:ea typeface="Baskerville"/>
                <a:cs typeface="Baskerville"/>
              </a:rPr>
              <a:t>218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672BB7-0248-4964-8D50-BF577C151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4274" y="3295650"/>
            <a:ext cx="1476132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E9EFED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E9EFED"/>
                </a:solidFill>
                <a:latin typeface="Avenir Next"/>
                <a:ea typeface="Avenir Next"/>
                <a:cs typeface="Avenir Next"/>
              </a:rPr>
              <a:t>15%</a:t>
            </a:r>
          </a:p>
        </p:txBody>
      </p:sp>
      <p:sp>
        <p:nvSpPr>
          <p:cNvPr id="16" name="split-3">
            <a:extLst xmlns:a="http://schemas.openxmlformats.org/drawingml/2006/main">
              <a:ext uri="{FF2B5EF4-FFF2-40B4-BE49-F238E27FC236}">
                <a16:creationId xmlns:a16="http://schemas.microsoft.com/office/drawing/2014/main" id="{22FC7220-0B32-4985-B452-D0898B1F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6606" y="2514600"/>
            <a:ext cx="1083198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CC5FAF-9999-4A48-B552-CB8121B47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2806" y="2686050"/>
            <a:ext cx="930798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FAFAF7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FAFAF7"/>
                </a:solidFill>
                <a:latin typeface="Avenir Next"/>
                <a:ea typeface="Avenir Next"/>
                <a:cs typeface="Avenir Next"/>
              </a:rPr>
              <a:t>TEST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DDFDB2-C7A7-4142-9D75-05047C2F8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2806" y="2952750"/>
            <a:ext cx="930798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AFAF7"/>
                </a:solidFill>
                <a:latin typeface="Baskerville"/>
                <a:ea typeface="Baskerville"/>
                <a:cs typeface="Baskerville"/>
              </a:defRPr>
            </a:pPr>
            <a:r>
              <a:rPr sz="1575" b="1">
                <a:solidFill>
                  <a:srgbClr val="FAFAF7"/>
                </a:solidFill>
                <a:latin typeface="Baskerville"/>
                <a:ea typeface="Baskerville"/>
                <a:cs typeface="Baskerville"/>
              </a:rPr>
              <a:t>145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E883F2-F063-4479-ACF3-D443A7BDF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2806" y="3295650"/>
            <a:ext cx="930798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E9EFED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E9EFED"/>
                </a:solidFill>
                <a:latin typeface="Avenir Next"/>
                <a:ea typeface="Avenir Next"/>
                <a:cs typeface="Avenir Next"/>
              </a:rPr>
              <a:t>10%</a:t>
            </a:r>
          </a:p>
        </p:txBody>
      </p:sp>
      <p:sp>
        <p:nvSpPr>
          <p:cNvPr id="20" name="split-4">
            <a:extLst xmlns:a="http://schemas.openxmlformats.org/drawingml/2006/main">
              <a:ext uri="{FF2B5EF4-FFF2-40B4-BE49-F238E27FC236}">
                <a16:creationId xmlns:a16="http://schemas.microsoft.com/office/drawing/2014/main" id="{402D1043-BFEF-4CE9-9681-D5C94D41D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9804" y="2514600"/>
            <a:ext cx="1083198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C1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5057DC-749E-4130-9082-920290C7C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6004" y="2686050"/>
            <a:ext cx="930798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REFERENCE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433590-DF0F-49E5-B812-0481BFB76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6004" y="2952750"/>
            <a:ext cx="930798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52022"/>
                </a:solidFill>
                <a:latin typeface="Baskerville"/>
                <a:ea typeface="Baskerville"/>
                <a:cs typeface="Baskerville"/>
              </a:defRPr>
            </a:pPr>
            <a:r>
              <a:rPr sz="1575" b="1">
                <a:solidFill>
                  <a:srgbClr val="152022"/>
                </a:solidFill>
                <a:latin typeface="Baskerville"/>
                <a:ea typeface="Baskerville"/>
                <a:cs typeface="Baskerville"/>
              </a:rPr>
              <a:t>145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FFE83B-7AA6-4EEC-8A9B-72E76A73F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6004" y="3295650"/>
            <a:ext cx="930798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66706C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66706C"/>
                </a:solidFill>
                <a:latin typeface="Avenir Next"/>
                <a:ea typeface="Avenir Next"/>
                <a:cs typeface="Avenir Next"/>
              </a:rPr>
              <a:t>10%</a:t>
            </a:r>
          </a:p>
        </p:txBody>
      </p:sp>
      <p:sp>
        <p:nvSpPr>
          <p:cNvPr id="24" name="split-5">
            <a:extLst xmlns:a="http://schemas.openxmlformats.org/drawingml/2006/main">
              <a:ext uri="{FF2B5EF4-FFF2-40B4-BE49-F238E27FC236}">
                <a16:creationId xmlns:a16="http://schemas.microsoft.com/office/drawing/2014/main" id="{DE829B70-9DC5-4396-B592-8A1E1829C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3002" y="2514600"/>
            <a:ext cx="1083198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EEADC4-BC4D-438B-BDE0-B63B3D89C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9202" y="2686050"/>
            <a:ext cx="930798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FAFAF7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FAFAF7"/>
                </a:solidFill>
                <a:latin typeface="Avenir Next"/>
                <a:ea typeface="Avenir Next"/>
                <a:cs typeface="Avenir Next"/>
              </a:rPr>
              <a:t>PRODUCTION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58FC95-8DBB-49E9-9AAD-7C5D151F8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9202" y="2952750"/>
            <a:ext cx="930798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AFAF7"/>
                </a:solidFill>
                <a:latin typeface="Baskerville"/>
                <a:ea typeface="Baskerville"/>
                <a:cs typeface="Baskerville"/>
              </a:defRPr>
            </a:pPr>
            <a:r>
              <a:rPr sz="1575" b="1">
                <a:solidFill>
                  <a:srgbClr val="FAFAF7"/>
                </a:solidFill>
                <a:latin typeface="Baskerville"/>
                <a:ea typeface="Baskerville"/>
                <a:cs typeface="Baskerville"/>
              </a:rPr>
              <a:t>145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234871-77C5-4F27-AE15-D3170A6B0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9202" y="3295650"/>
            <a:ext cx="930798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E9EFED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E9EFED"/>
                </a:solidFill>
                <a:latin typeface="Avenir Next"/>
                <a:ea typeface="Avenir Next"/>
                <a:cs typeface="Avenir Next"/>
              </a:rPr>
              <a:t>10%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49076B-E6E4-40DD-B079-57CF0D078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529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2F964C-5E0B-4FC2-9754-1382B60C4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43400"/>
            <a:ext cx="1866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Model öğrenir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DD96FA-70B8-4276-923C-BD1F07E5A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0100"/>
            <a:ext cx="1866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6C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6706C"/>
                </a:solidFill>
                <a:latin typeface="Avenir Next"/>
                <a:ea typeface="Avenir Next"/>
                <a:cs typeface="Avenir Next"/>
              </a:rPr>
              <a:t>798 satır · tüm fit adımları burada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67837E2-E3C9-4E5F-AF10-D59F261B0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1529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6E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64C245-5C60-481D-B779-E3FC96359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343400"/>
            <a:ext cx="1866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Karar verilir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CF910C4-A401-4F68-A5F5-8400B7037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610100"/>
            <a:ext cx="1866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6C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6706C"/>
                </a:solidFill>
                <a:latin typeface="Avenir Next"/>
                <a:ea typeface="Avenir Next"/>
                <a:cs typeface="Avenir Next"/>
              </a:rPr>
              <a:t>218 satır · model/hipotez seçimi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30A1074-3BD0-4074-B948-22C7CE74B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1529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9E89558-929E-4D27-885B-F9EBB7E1B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343400"/>
            <a:ext cx="1866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Genelleme ölçülür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E58DC9C-686C-461D-A9AA-0444DB573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610100"/>
            <a:ext cx="1866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6C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6706C"/>
                </a:solidFill>
                <a:latin typeface="Avenir Next"/>
                <a:ea typeface="Avenir Next"/>
                <a:cs typeface="Avenir Next"/>
              </a:rPr>
              <a:t>145 satır · bağımsız doğrulama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026EE88-5171-40AD-8860-1E0B6ACD9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1529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C1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3276CDD-A2FE-4045-A111-536678163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343400"/>
            <a:ext cx="1866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Drift referansı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7D33DDB-1E42-42FA-A2EE-5B1694924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610100"/>
            <a:ext cx="1866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6C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6706C"/>
                </a:solidFill>
                <a:latin typeface="Avenir Next"/>
                <a:ea typeface="Avenir Next"/>
                <a:cs typeface="Avenir Next"/>
              </a:rPr>
              <a:t>145 satır · üretim karşılaştırması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A52A9E7-5BAD-414C-938C-A65AA129D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1529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431B830-7397-44F7-9096-FE3EE8264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343400"/>
            <a:ext cx="1866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Gerçek akış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1B506AA-AEE2-4B20-A04F-AA576DD40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610100"/>
            <a:ext cx="1866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6C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6706C"/>
                </a:solidFill>
                <a:latin typeface="Avenir Next"/>
                <a:ea typeface="Avenir Next"/>
                <a:cs typeface="Avenir Next"/>
              </a:rPr>
              <a:t>145 satır · targets ayrı tutulur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5EA43E4-FEBB-408B-9F6E-AC2A48EAA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10839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36C285B-0114-467E-9562-1FF3EC26A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81650"/>
            <a:ext cx="1104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F7A63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1F7A63"/>
                </a:solidFill>
                <a:latin typeface="Avenir Next"/>
                <a:ea typeface="Avenir Next"/>
                <a:cs typeface="Avenir Next"/>
              </a:rPr>
              <a:t>Kritik kural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8248357-E640-47F6-8429-37FDF945D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562600"/>
            <a:ext cx="9001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938" b="1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Imputation, encoding ve ölçekleme validation/test üzerinde yeniden fit edilmez; train'de öğrenilen dönüşümler aynen uygulanır.</a:t>
            </a:r>
          </a:p>
        </p:txBody>
      </p:sp>
    </p:spTree>
    <p:extLst>
      <p:ext uri="{BB962C8B-B14F-4D97-AF65-F5344CB8AC3E}">
        <p14:creationId xmlns:p14="http://schemas.microsoft.com/office/powerpoint/2010/main" val="129041081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0CA5EF88-D39C-4F7B-8A2E-2488B9F57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4-marker">
            <a:extLst xmlns:a="http://schemas.openxmlformats.org/drawingml/2006/main">
              <a:ext uri="{FF2B5EF4-FFF2-40B4-BE49-F238E27FC236}">
                <a16:creationId xmlns:a16="http://schemas.microsoft.com/office/drawing/2014/main" id="{5781E379-487D-46DC-BB8C-B470DFBDF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4-label">
            <a:extLst xmlns:a="http://schemas.openxmlformats.org/drawingml/2006/main">
              <a:ext uri="{FF2B5EF4-FFF2-40B4-BE49-F238E27FC236}">
                <a16:creationId xmlns:a16="http://schemas.microsoft.com/office/drawing/2014/main" id="{139B2DBE-5F2D-4292-AD5B-B67EF7AA5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06C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6706C"/>
                </a:solidFill>
                <a:latin typeface="Avenir Next"/>
                <a:ea typeface="Avenir Next"/>
                <a:cs typeface="Avenir Next"/>
              </a:rPr>
              <a:t>D A T A   C L E A N I N G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D0196C64-4CDF-4C0C-ADA6-AF8E29EAB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90575"/>
            <a:ext cx="9620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2022"/>
                </a:solidFill>
                <a:latin typeface="Baskerville"/>
                <a:ea typeface="Baskerville"/>
                <a:cs typeface="Baskerville"/>
              </a:defRPr>
            </a:pPr>
            <a:r>
              <a:rPr sz="2700" b="1">
                <a:solidFill>
                  <a:srgbClr val="152022"/>
                </a:solidFill>
                <a:latin typeface="Baskerville"/>
                <a:ea typeface="Baskerville"/>
                <a:cs typeface="Baskerville"/>
              </a:rPr>
              <a:t>Temizlik başarısı “0 NaN” değil, eksikliği doğru anlama çevirmek.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7BD0B0A-C960-4234-9565-51AB15FFE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5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3B42824E-5F4D-4FD5-990A-935BE90F5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9906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0" b="0">
                <a:solidFill>
                  <a:srgbClr val="66706C"/>
                </a:solidFill>
                <a:latin typeface="Avenir Next"/>
                <a:ea typeface="Avenir Next"/>
                <a:cs typeface="Avenir Next"/>
              </a:defRPr>
            </a:pPr>
            <a:r>
              <a:rPr sz="570" b="0">
                <a:solidFill>
                  <a:srgbClr val="66706C"/>
                </a:solidFill>
                <a:latin typeface="Avenir Next"/>
                <a:ea typeface="Avenir Next"/>
                <a:cs typeface="Avenir Next"/>
              </a:rPr>
              <a:t>Kaynak: pipeline_machine_learning.py · data/processed/selected_features.csv</a:t>
            </a:r>
          </a:p>
        </p:txBody>
      </p:sp>
      <p:sp>
        <p:nvSpPr>
          <p:cNvPr id="7" name="page-marker">
            <a:extLst xmlns:a="http://schemas.openxmlformats.org/drawingml/2006/main">
              <a:ext uri="{FF2B5EF4-FFF2-40B4-BE49-F238E27FC236}">
                <a16:creationId xmlns:a16="http://schemas.microsoft.com/office/drawing/2014/main" id="{CC047959-D108-41A6-90BC-9953C77A8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510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66706C"/>
                </a:solidFill>
                <a:latin typeface="Baskerville"/>
                <a:ea typeface="Baskerville"/>
                <a:cs typeface="Baskerville"/>
              </a:defRPr>
            </a:pPr>
            <a:r>
              <a:rPr sz="788" b="1">
                <a:solidFill>
                  <a:srgbClr val="66706C"/>
                </a:solidFill>
                <a:latin typeface="Baskerville"/>
                <a:ea typeface="Baskerville"/>
                <a:cs typeface="Baskerville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EB082D-C346-4ACD-A700-E3C0531D6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667000"/>
            <a:ext cx="60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5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2093FC-0657-400F-8DF2-B387854C0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0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DD47DA-2388-4FED-93B9-D0DA4838C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7647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AFAF7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FAFAF7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C20CC1-F81E-4005-8F23-C0FB1BC64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05100"/>
            <a:ext cx="1752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Yapısal eksik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676C1E-5080-4660-8927-0CCFECDA9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90850"/>
            <a:ext cx="1752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87941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D87941"/>
                </a:solidFill>
                <a:latin typeface="Avenir Next"/>
                <a:ea typeface="Avenir Next"/>
                <a:cs typeface="Avenir Next"/>
              </a:rPr>
              <a:t>NaN = özellik yok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54198C-3779-40A9-A0A1-D80952C8D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5280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6C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6706C"/>
                </a:solidFill>
                <a:latin typeface="Avenir Next"/>
                <a:ea typeface="Avenir Next"/>
                <a:cs typeface="Avenir Next"/>
              </a:rPr>
              <a:t>Garage/Basement/Fireplace → anlamlı kategori veya 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F840C8-2690-48A4-B841-A74D91305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067050"/>
            <a:ext cx="60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5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F0CBFC-431B-4B5A-A3CB-A8264914D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590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0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105045-18A6-4081-97CB-F8678DC5C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67652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AFAF7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FAFAF7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D268E4-5DF6-4833-AD45-36845C3A8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105150"/>
            <a:ext cx="1752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Koşullu imputasyon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07DC3D-7C62-4E82-8DD4-D0EF7B24F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390900"/>
            <a:ext cx="1752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87941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D87941"/>
                </a:solidFill>
                <a:latin typeface="Avenir Next"/>
                <a:ea typeface="Avenir Next"/>
                <a:cs typeface="Avenir Next"/>
              </a:rPr>
              <a:t>LotFrontage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AAEEAD-67FA-45D3-A8D2-77E006107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7528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6C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6706C"/>
                </a:solidFill>
                <a:latin typeface="Avenir Next"/>
                <a:ea typeface="Avenir Next"/>
                <a:cs typeface="Avenir Next"/>
              </a:rPr>
              <a:t>Mahalle medyanı; fallback global medyan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24166C-7F4D-43FA-AED8-72DE2C8F2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667000"/>
            <a:ext cx="60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5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A2B18B-428A-430A-B36F-870F251A7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190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0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C708D7-0CFB-48AA-93E4-D7B1C17FD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27647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AFAF7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FAFAF7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4D1379-D758-4B9E-B4C2-5FC1BDC9E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05100"/>
            <a:ext cx="1752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Ordinal anlam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D04EC5-E4BA-435A-A9E3-E7BE74777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990850"/>
            <a:ext cx="1752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87941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D87941"/>
                </a:solidFill>
                <a:latin typeface="Avenir Next"/>
                <a:ea typeface="Avenir Next"/>
                <a:cs typeface="Avenir Next"/>
              </a:rPr>
              <a:t>Po &lt; Fa &lt; TA &lt; Gd &lt; Ex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4D074E-C0BB-4A9B-AE74-04FB90855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35280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6C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6706C"/>
                </a:solidFill>
                <a:latin typeface="Avenir Next"/>
                <a:ea typeface="Avenir Next"/>
                <a:cs typeface="Avenir Next"/>
              </a:rPr>
              <a:t>Sıra bilgisi korunarak sayısallaştırılır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089575-B9FF-49BF-99F3-6A3A5A368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067050"/>
            <a:ext cx="60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5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A3573A-0E35-493F-8379-11A1B7299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590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0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EDB457-0F5D-46ED-A20B-3327E395E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67652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AFAF7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FAFAF7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6B6C6D-75B9-411E-AC55-EC16E9823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105150"/>
            <a:ext cx="1752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Nadir detay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DF13F9-943E-414C-8F83-2C525E7AD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390900"/>
            <a:ext cx="1752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87941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D87941"/>
                </a:solidFill>
                <a:latin typeface="Avenir Next"/>
                <a:ea typeface="Avenir Next"/>
                <a:cs typeface="Avenir Next"/>
              </a:rPr>
              <a:t>PoolQC / MiscFeature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FB592D-8EA5-4D52-8282-D5EA9BCF5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7528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6C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6706C"/>
                </a:solidFill>
                <a:latin typeface="Avenir Next"/>
                <a:ea typeface="Avenir Next"/>
                <a:cs typeface="Avenir Next"/>
              </a:rPr>
              <a:t>Detay yerine HasPool / HasMiscFeature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426ECE2-1AA4-4AD4-B048-6E05E5C5A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190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CAF0DFC-8647-43C9-AC40-62B4B8E31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27647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AFAF7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FAFAF7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DFEE301-9356-4E3B-915C-FC735015F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705100"/>
            <a:ext cx="1752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Kalite kontrol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2591B60-7D15-49C8-8038-7D189D450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990850"/>
            <a:ext cx="1752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F7A63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1F7A63"/>
                </a:solidFill>
                <a:latin typeface="Avenir Next"/>
                <a:ea typeface="Avenir Next"/>
                <a:cs typeface="Avenir Next"/>
              </a:rPr>
              <a:t>0 missing · 0 duplicate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F404B91-3420-454D-9CFE-50B5A6D3D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35280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6C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6706C"/>
                </a:solidFill>
                <a:latin typeface="Avenir Next"/>
                <a:ea typeface="Avenir Next"/>
                <a:cs typeface="Avenir Next"/>
              </a:rPr>
              <a:t>Model girdisi tekrar üretilebilir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146E50A-B938-4189-95D3-134016904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95875"/>
            <a:ext cx="110871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1793B83-FBA5-43E5-AEC8-F0DC9C254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AFAF7"/>
                </a:solidFill>
                <a:latin typeface="Baskerville"/>
                <a:ea typeface="Baskerville"/>
                <a:cs typeface="Baskerville"/>
              </a:defRPr>
            </a:pPr>
            <a:r>
              <a:rPr sz="1950" b="1">
                <a:solidFill>
                  <a:srgbClr val="FAFAF7"/>
                </a:solidFill>
                <a:latin typeface="Baskerville"/>
                <a:ea typeface="Baskerville"/>
                <a:cs typeface="Baskerville"/>
              </a:rPr>
              <a:t>81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D79FE0A-62C5-4B95-B038-00FDA12A7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197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AEBAB7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AEBAB7"/>
                </a:solidFill>
                <a:latin typeface="Avenir Next"/>
                <a:ea typeface="Avenir Next"/>
                <a:cs typeface="Avenir Next"/>
              </a:rPr>
              <a:t>NoGarage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F977F5C-5CF8-4743-A8A6-117D66445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52387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AFAF7"/>
                </a:solidFill>
                <a:latin typeface="Baskerville"/>
                <a:ea typeface="Baskerville"/>
                <a:cs typeface="Baskerville"/>
              </a:defRPr>
            </a:pPr>
            <a:r>
              <a:rPr sz="1950" b="1">
                <a:solidFill>
                  <a:srgbClr val="FAFAF7"/>
                </a:solidFill>
                <a:latin typeface="Baskerville"/>
                <a:ea typeface="Baskerville"/>
                <a:cs typeface="Baskerville"/>
              </a:rPr>
              <a:t>37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1DF67FD-A72A-40DA-B2D9-FA1F6A89C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56197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AEBAB7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AEBAB7"/>
                </a:solidFill>
                <a:latin typeface="Avenir Next"/>
                <a:ea typeface="Avenir Next"/>
                <a:cs typeface="Avenir Next"/>
              </a:rPr>
              <a:t>NoBasement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64D784C-EB87-4883-8EA1-753B14781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2387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AFAF7"/>
                </a:solidFill>
                <a:latin typeface="Baskerville"/>
                <a:ea typeface="Baskerville"/>
                <a:cs typeface="Baskerville"/>
              </a:defRPr>
            </a:pPr>
            <a:r>
              <a:rPr sz="1950" b="1">
                <a:solidFill>
                  <a:srgbClr val="FAFAF7"/>
                </a:solidFill>
                <a:latin typeface="Baskerville"/>
                <a:ea typeface="Baskerville"/>
                <a:cs typeface="Baskerville"/>
              </a:rPr>
              <a:t>685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32F38D7-FE67-49A8-8C94-C670BE38B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6197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AEBAB7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AEBAB7"/>
                </a:solidFill>
                <a:latin typeface="Avenir Next"/>
                <a:ea typeface="Avenir Next"/>
                <a:cs typeface="Avenir Next"/>
              </a:rPr>
              <a:t>NoFireplace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1C0A838-0CB2-438A-AA1A-CCD09A81E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52387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6C15A"/>
                </a:solidFill>
                <a:latin typeface="Baskerville"/>
                <a:ea typeface="Baskerville"/>
                <a:cs typeface="Baskerville"/>
              </a:defRPr>
            </a:pPr>
            <a:r>
              <a:rPr sz="1950" b="1">
                <a:solidFill>
                  <a:srgbClr val="E6C15A"/>
                </a:solidFill>
                <a:latin typeface="Baskerville"/>
                <a:ea typeface="Baskerville"/>
                <a:cs typeface="Baskerville"/>
              </a:rPr>
              <a:t>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058A5F5-A317-4866-9FC5-9A2208052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56197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AEBAB7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AEBAB7"/>
                </a:solidFill>
                <a:latin typeface="Avenir Next"/>
                <a:ea typeface="Avenir Next"/>
                <a:cs typeface="Avenir Next"/>
              </a:rPr>
              <a:t>Kalan missing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3FF5DE4-65B5-4ABF-BFE0-9AB470BFC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2387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6C15A"/>
                </a:solidFill>
                <a:latin typeface="Baskerville"/>
                <a:ea typeface="Baskerville"/>
                <a:cs typeface="Baskerville"/>
              </a:defRPr>
            </a:pPr>
            <a:r>
              <a:rPr sz="1950" b="1">
                <a:solidFill>
                  <a:srgbClr val="E6C15A"/>
                </a:solidFill>
                <a:latin typeface="Baskerville"/>
                <a:ea typeface="Baskerville"/>
                <a:cs typeface="Baskerville"/>
              </a:rPr>
              <a:t>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58841D2-A128-4D54-A8B9-9BB547B46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6197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AEBAB7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AEBAB7"/>
                </a:solidFill>
                <a:latin typeface="Avenir Next"/>
                <a:ea typeface="Avenir Next"/>
                <a:cs typeface="Avenir Next"/>
              </a:rPr>
              <a:t>Duplicate</a:t>
            </a:r>
          </a:p>
        </p:txBody>
      </p:sp>
    </p:spTree>
    <p:extLst>
      <p:ext uri="{BB962C8B-B14F-4D97-AF65-F5344CB8AC3E}">
        <p14:creationId xmlns:p14="http://schemas.microsoft.com/office/powerpoint/2010/main" val="125536170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A6241895-5029-4479-8B3F-9AA7AEA89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5-marker">
            <a:extLst xmlns:a="http://schemas.openxmlformats.org/drawingml/2006/main">
              <a:ext uri="{FF2B5EF4-FFF2-40B4-BE49-F238E27FC236}">
                <a16:creationId xmlns:a16="http://schemas.microsoft.com/office/drawing/2014/main" id="{23CAA40D-20AC-4544-9013-0505B39AE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5-label">
            <a:extLst xmlns:a="http://schemas.openxmlformats.org/drawingml/2006/main">
              <a:ext uri="{FF2B5EF4-FFF2-40B4-BE49-F238E27FC236}">
                <a16:creationId xmlns:a16="http://schemas.microsoft.com/office/drawing/2014/main" id="{88F6916C-38AE-4263-8AA7-994B024AE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H E D E F   D E Ğ I Ş K E N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E7D8E43B-4474-4F44-8701-1B4F91A21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90575"/>
            <a:ext cx="9620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AFAF7"/>
                </a:solidFill>
                <a:latin typeface="Baskerville"/>
                <a:ea typeface="Baskerville"/>
                <a:cs typeface="Baskerville"/>
              </a:defRPr>
            </a:pPr>
            <a:r>
              <a:rPr sz="2700" b="1">
                <a:solidFill>
                  <a:srgbClr val="FAFAF7"/>
                </a:solidFill>
                <a:latin typeface="Baskerville"/>
                <a:ea typeface="Baskerville"/>
                <a:cs typeface="Baskerville"/>
              </a:rPr>
              <a:t>SalePrice sağa çarpık; log dönüşümü kuyruğu 1.88’den 0.12’ye indiriyor.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D131B92-D98F-4464-B8BE-143F8A5A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1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F0046C82-B76F-45DA-B38E-A37FA2078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9906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0" b="0">
                <a:solidFill>
                  <a:srgbClr val="9CA9A6"/>
                </a:solidFill>
                <a:latin typeface="Avenir Next"/>
                <a:ea typeface="Avenir Next"/>
                <a:cs typeface="Avenir Next"/>
              </a:defRPr>
            </a:pPr>
            <a:r>
              <a:rPr sz="570" b="0">
                <a:solidFill>
                  <a:srgbClr val="9CA9A6"/>
                </a:solidFill>
                <a:latin typeface="Avenir Next"/>
                <a:ea typeface="Avenir Next"/>
                <a:cs typeface="Avenir Next"/>
              </a:rPr>
              <a:t>Kaynak: data/processed/selected_features.csv · hedefte log1p/expm1</a:t>
            </a:r>
          </a:p>
        </p:txBody>
      </p:sp>
      <p:sp>
        <p:nvSpPr>
          <p:cNvPr id="7" name="page-marker">
            <a:extLst xmlns:a="http://schemas.openxmlformats.org/drawingml/2006/main">
              <a:ext uri="{FF2B5EF4-FFF2-40B4-BE49-F238E27FC236}">
                <a16:creationId xmlns:a16="http://schemas.microsoft.com/office/drawing/2014/main" id="{E0AA3EB7-2C18-41FE-8823-851065BAC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510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F4F0E8"/>
                </a:solidFill>
                <a:latin typeface="Baskerville"/>
                <a:ea typeface="Baskerville"/>
                <a:cs typeface="Baskerville"/>
              </a:defRPr>
            </a:pPr>
            <a:r>
              <a:rPr sz="788" b="1">
                <a:solidFill>
                  <a:srgbClr val="F4F0E8"/>
                </a:solidFill>
                <a:latin typeface="Baskerville"/>
                <a:ea typeface="Baskerville"/>
                <a:cs typeface="Baskerville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55A290-228C-437F-89E6-154292137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1930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AFAF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FAFAF7"/>
                </a:solidFill>
                <a:latin typeface="Avenir Next"/>
                <a:ea typeface="Avenir Next"/>
                <a:cs typeface="Avenir Next"/>
              </a:rPr>
              <a:t>Ham SalePrice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74D8C9-57B2-4832-9238-EBE0FF4BB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25795"/>
            <a:ext cx="180109" cy="1557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D8E4DC-14E9-4D0F-B60A-3EDCC4A13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959" y="4097996"/>
            <a:ext cx="180109" cy="6835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168481-2A2C-46CF-B626-B597DD0F6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168" y="2953372"/>
            <a:ext cx="180109" cy="18281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0502D7-9364-4CD9-9428-F4E5EE990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377" y="2514600"/>
            <a:ext cx="180109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E40A1F-631A-4587-8226-B5243DC3C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9586" y="3093271"/>
            <a:ext cx="180109" cy="16882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4363ED-A204-4EF9-8DC5-119747449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7795" y="3824558"/>
            <a:ext cx="180109" cy="956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DE66F5-A524-47F7-A9D8-BB85537D0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6005" y="4091637"/>
            <a:ext cx="180109" cy="689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9D015A-B2FD-49DE-9B1C-B5C92F1EE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214" y="4333280"/>
            <a:ext cx="180109" cy="448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FEEBA7-55DD-4AAF-BDDB-B5E41AE17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2423" y="4460460"/>
            <a:ext cx="180109" cy="3210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271F2E-5E8B-4305-AA70-DA45C5000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0632" y="4619436"/>
            <a:ext cx="180109" cy="1621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E98C51-C333-4048-B940-87B0FAFB8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8841" y="4625795"/>
            <a:ext cx="180109" cy="1557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87AB65-2A1D-4188-95C4-1BE758418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683026"/>
            <a:ext cx="180109" cy="985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50078C-5BF1-4E76-8265-0E81D1577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5259" y="4714821"/>
            <a:ext cx="180109" cy="667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DA7440-1059-486C-98A9-9085871E8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3468" y="4733898"/>
            <a:ext cx="180109" cy="476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3B6909-D742-4976-8FA5-18C17AAAB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677" y="4746616"/>
            <a:ext cx="180109" cy="349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276F5C-9410-44D5-8505-49C9CC6D7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9886" y="4733898"/>
            <a:ext cx="180109" cy="476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70C8E8-FB4E-493C-B276-E14296828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8095" y="4746616"/>
            <a:ext cx="180109" cy="349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150638-FEBF-46F1-B44E-883B6EAD3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6305" y="4746616"/>
            <a:ext cx="180109" cy="349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287039-DD1A-4049-BCDA-2A43B188B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4514" y="4746616"/>
            <a:ext cx="180109" cy="349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97CC8C-D308-420B-BBCC-45AAA1824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2723" y="4752975"/>
            <a:ext cx="180109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591B4B-7709-485A-B75B-F039A8AB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0932" y="4752975"/>
            <a:ext cx="180109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39763C-D777-4A01-811F-B86A1A006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9141" y="4740257"/>
            <a:ext cx="180109" cy="412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7C730C-EC61-4173-866E-4221007ED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815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663DBB-B461-4A1D-9BCD-751146755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A8B4B1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A8B4B1"/>
                </a:solidFill>
                <a:latin typeface="Avenir Next"/>
                <a:ea typeface="Avenir Next"/>
                <a:cs typeface="Avenir Next"/>
              </a:rPr>
              <a:t>$34.9K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0A8D71D-0DDF-446D-842B-1A39F548C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914900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A8B4B1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A8B4B1"/>
                </a:solidFill>
                <a:latin typeface="Avenir Next"/>
                <a:ea typeface="Avenir Next"/>
                <a:cs typeface="Avenir Next"/>
              </a:rPr>
              <a:t>$755.0K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456AF1E-D3B1-4938-AA41-569DB4C09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09550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D87941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D87941"/>
                </a:solidFill>
                <a:latin typeface="Avenir Next"/>
                <a:ea typeface="Avenir Next"/>
                <a:cs typeface="Avenir Next"/>
              </a:rPr>
              <a:t>skew = 1.88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3030550-5D83-4979-88A9-A389C83D4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1930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AFAF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FAFAF7"/>
                </a:solidFill>
                <a:latin typeface="Avenir Next"/>
                <a:ea typeface="Avenir Next"/>
                <a:cs typeface="Avenir Next"/>
              </a:rPr>
              <a:t>log1p(SalePrice)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8DC6C69-468D-401D-A4F0-0D3EB524E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05552"/>
            <a:ext cx="180109" cy="759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1FD78AE-9BCD-4BCB-9C07-BE3FAF865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0459" y="4752975"/>
            <a:ext cx="180109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FF42581-C9CB-4009-BB83-E435839F0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8668" y="4734006"/>
            <a:ext cx="180109" cy="475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7BA18CC-3940-4206-94EE-789F3E00D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6877" y="4677098"/>
            <a:ext cx="180109" cy="1044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762EF2E-E536-4F3E-B7E7-B02797064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5086" y="4686583"/>
            <a:ext cx="180109" cy="949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5481D8E-18E2-437D-8C60-4E00BDBB4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3295" y="4582251"/>
            <a:ext cx="180109" cy="1992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E9C778F-3AC1-483A-B73E-4C6930F57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1505" y="4278743"/>
            <a:ext cx="180109" cy="5028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CFBFAFB-807A-4BA0-BFA5-B855A20CA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9714" y="4202866"/>
            <a:ext cx="180109" cy="5786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DD42583-B7DC-4240-86FB-C97F558C4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7923" y="3482033"/>
            <a:ext cx="180109" cy="12995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492A4F9-774C-4600-B539-ED24F4D30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132" y="2514600"/>
            <a:ext cx="180109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D56342A-B221-4BAC-BE62-47D840CA6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4341" y="2789655"/>
            <a:ext cx="180109" cy="19918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F0E8848-7BBC-4290-8EC2-F643F65B0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742231"/>
            <a:ext cx="180109" cy="20393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CF6CD0D-6DA9-47B4-86B1-AD1A11A7B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0759" y="3273371"/>
            <a:ext cx="180109" cy="15081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F6B8DB7-5D44-46CB-A452-46DE8F70B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8968" y="3529456"/>
            <a:ext cx="180109" cy="12520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27DA487-AEB3-4130-BCD9-9FC4E9D27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7177" y="3861419"/>
            <a:ext cx="180109" cy="9201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22D89CA-8E17-4DAC-9021-04D128511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386" y="4155443"/>
            <a:ext cx="180109" cy="6261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A1B7596-3A05-4C19-B8EF-0F0ADFD67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3595" y="4468436"/>
            <a:ext cx="180109" cy="3131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5169056-DCD4-40F6-A6FC-76191D264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1805" y="4515859"/>
            <a:ext cx="180109" cy="265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740D611-983B-4572-9BE8-2E731A56C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0014" y="4677098"/>
            <a:ext cx="180109" cy="1044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854CA43-75F3-4BDA-84EE-19F15461E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8223" y="4715036"/>
            <a:ext cx="180109" cy="665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37A5004-5C6E-42B6-A0D3-9D94C81E1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432" y="4724521"/>
            <a:ext cx="180109" cy="570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0FB5B0D-59DE-4700-B0A4-B7A9C59F3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4641" y="4734006"/>
            <a:ext cx="180109" cy="475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6BFE462-1086-4572-A4CA-F0B939ABF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815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398E347-B17B-4D14-ACEC-11BD2D65D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14900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A8B4B1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A8B4B1"/>
                </a:solidFill>
                <a:latin typeface="Avenir Next"/>
                <a:ea typeface="Avenir Next"/>
                <a:cs typeface="Avenir Next"/>
              </a:rPr>
              <a:t>10.5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7B372EA-B51D-4821-9C7E-8F59B9089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914900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A8B4B1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A8B4B1"/>
                </a:solidFill>
                <a:latin typeface="Avenir Next"/>
                <a:ea typeface="Avenir Next"/>
                <a:cs typeface="Avenir Next"/>
              </a:rPr>
              <a:t>13.5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05D6D46-39C2-48C8-90B4-C9415DCF0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09550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B99D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66B99D"/>
                </a:solidFill>
                <a:latin typeface="Avenir Next"/>
                <a:ea typeface="Avenir Next"/>
                <a:cs typeface="Avenir Next"/>
              </a:rPr>
              <a:t>skew = 0.12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F6AF061-F685-4BAE-84CE-4945F670F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6C15A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E6C15A"/>
                </a:solidFill>
                <a:latin typeface="Avenir Next"/>
                <a:ea typeface="Avenir Next"/>
                <a:cs typeface="Avenir Next"/>
              </a:rPr>
              <a:t>Neden?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7B9A91D-DF0A-4120-A329-69F92CE68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429250"/>
            <a:ext cx="8229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938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Lineer modelin pahalı evlerin uzun kuyruğuna aşırı ağırlık vermesini azaltır; tahminler expm1 ile tekrar dolar ölçeğine döner.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A54EC12-2E24-4049-A3D7-A0819BBB9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42925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AEBAB7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AEBAB7"/>
                </a:solidFill>
                <a:latin typeface="Avenir Next"/>
                <a:ea typeface="Avenir Next"/>
                <a:cs typeface="Avenir Next"/>
              </a:rPr>
              <a:t>Medyan $162.5K · Ortalama $180.6K · Maksimum $755.0K</a:t>
            </a:r>
          </a:p>
        </p:txBody>
      </p:sp>
    </p:spTree>
    <p:extLst>
      <p:ext uri="{BB962C8B-B14F-4D97-AF65-F5344CB8AC3E}">
        <p14:creationId xmlns:p14="http://schemas.microsoft.com/office/powerpoint/2010/main" val="94829682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4BCDE247-858C-4D83-AF97-C9A46924D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6-marker">
            <a:extLst xmlns:a="http://schemas.openxmlformats.org/drawingml/2006/main">
              <a:ext uri="{FF2B5EF4-FFF2-40B4-BE49-F238E27FC236}">
                <a16:creationId xmlns:a16="http://schemas.microsoft.com/office/drawing/2014/main" id="{6D25CA3B-E33F-4E2B-8C29-D9BE09054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6-label">
            <a:extLst xmlns:a="http://schemas.openxmlformats.org/drawingml/2006/main">
              <a:ext uri="{FF2B5EF4-FFF2-40B4-BE49-F238E27FC236}">
                <a16:creationId xmlns:a16="http://schemas.microsoft.com/office/drawing/2014/main" id="{C22FF8C1-2188-4FDA-A58F-E6496EF14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06C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6706C"/>
                </a:solidFill>
                <a:latin typeface="Avenir Next"/>
                <a:ea typeface="Avenir Next"/>
                <a:cs typeface="Avenir Next"/>
              </a:rPr>
              <a:t>O U T L I E R   A N A L I Z I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5EB1FCC0-BD9C-41AC-A707-4E2A104F4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90575"/>
            <a:ext cx="9620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2022"/>
                </a:solidFill>
                <a:latin typeface="Baskerville"/>
                <a:ea typeface="Baskerville"/>
                <a:cs typeface="Baskerville"/>
              </a:defRPr>
            </a:pPr>
            <a:r>
              <a:rPr sz="2700" b="1">
                <a:solidFill>
                  <a:srgbClr val="152022"/>
                </a:solidFill>
                <a:latin typeface="Baskerville"/>
                <a:ea typeface="Baskerville"/>
                <a:cs typeface="Baskerville"/>
              </a:rPr>
              <a:t>Outlier’lar sinyal olabilir; kör silme yerine işaretleme ve doğrulama gerekir.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FFDBA0C-A758-4637-84ED-AFE30046E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5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341F907C-F470-4677-871E-F7AFD20E8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9906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0" b="0">
                <a:solidFill>
                  <a:srgbClr val="66706C"/>
                </a:solidFill>
                <a:latin typeface="Avenir Next"/>
                <a:ea typeface="Avenir Next"/>
                <a:cs typeface="Avenir Next"/>
              </a:defRPr>
            </a:pPr>
            <a:r>
              <a:rPr sz="570" b="0">
                <a:solidFill>
                  <a:srgbClr val="66706C"/>
                </a:solidFill>
                <a:latin typeface="Avenir Next"/>
                <a:ea typeface="Avenir Next"/>
                <a:cs typeface="Avenir Next"/>
              </a:rPr>
              <a:t>Kaynak: selected_features.csv · 1.5×IQR tanımı</a:t>
            </a:r>
          </a:p>
        </p:txBody>
      </p:sp>
      <p:sp>
        <p:nvSpPr>
          <p:cNvPr id="7" name="page-marker">
            <a:extLst xmlns:a="http://schemas.openxmlformats.org/drawingml/2006/main">
              <a:ext uri="{FF2B5EF4-FFF2-40B4-BE49-F238E27FC236}">
                <a16:creationId xmlns:a16="http://schemas.microsoft.com/office/drawing/2014/main" id="{F5CB9D27-241C-4B35-AB40-28BF1FAE8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510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66706C"/>
                </a:solidFill>
                <a:latin typeface="Baskerville"/>
                <a:ea typeface="Baskerville"/>
                <a:cs typeface="Baskerville"/>
              </a:defRPr>
            </a:pPr>
            <a:r>
              <a:rPr sz="788" b="1">
                <a:solidFill>
                  <a:srgbClr val="66706C"/>
                </a:solidFill>
                <a:latin typeface="Baskerville"/>
                <a:ea typeface="Baskerville"/>
                <a:cs typeface="Baskerville"/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D1B7FE-0F2B-455C-9F28-B8FBF6A1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771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0DFAA2-B7CE-417F-B15B-E2424D20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771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4988A8-A37E-4781-862B-D4415FC10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771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56B35C-CCC4-4BBD-AF1B-2576E40D8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771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5B274B-7CE5-4043-BC86-8D2A01BEE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771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12B7D9-70BE-4802-89B9-A63392ED2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771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A175ED-D3E8-4F2B-987B-2FDCD97B3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7165" y="3689694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DD3E81-9D59-4C23-AB6C-51520C474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2890" y="4222837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3551F0-F868-488D-9E7D-B7A4BB39D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4009" y="3527121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C9F787-E80F-48DB-BEDC-F2E9C5C9F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887" y="4604359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158F17-52F8-4C42-8FDB-FA87B858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4188" y="3850292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3582CC-05CF-4A0D-9E8B-C6F906711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8961" y="4335049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73BEB1-E217-4894-ABAC-B8C55880A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0265" y="4572939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2A2D91-EAD4-4819-955A-BC445F1B1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2545" y="3729103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749213-4E79-48A7-BF8A-70E674FA0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2546" y="4829906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B28093-21DB-43A8-9215-127559F8C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3615" y="420039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9DB34F-CD55-4870-8EFA-8C886FD88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7835" y="4047337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896DE9-AD93-452E-9220-37C600E1A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1267" y="4761456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4135EA-1B8A-41BD-B665-A6B8945F1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3264" y="2270342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895AD5-F5F0-45D3-8171-F8281E513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4610" y="324434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771489-77E5-4290-AE76-B026F6639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0942" y="3482236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B8FE83-E75E-4A0E-8B48-DFABB0240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9243" y="3042664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04A131-F80F-4502-BE53-D654892F6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9699" y="443828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00E548-F804-49A2-BB2E-CFEB16AC5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1536" y="4370957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6BAA5A9-E14C-46F8-A40E-83C2416CE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614" y="4774922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35A90B5-CF30-40CE-AFE8-02A776578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3263" y="316094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A259D6C-974E-41F2-BFA7-85F35465F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898" y="3752129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BD1BB11-9355-4DFF-950D-01F4F0B0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582" y="2853847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724EED0-C7C8-4044-8B5B-FCEE54BA9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4050" y="4759212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4A31B66-6D19-400A-ABAA-81EBA0D3F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9699" y="4379934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0FD0FD7-5E75-48E0-87E1-B99D9A733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0723" y="2315227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A465CF9-CC1D-43DE-8B4B-CCD69B1EF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4941" y="3949039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10E36EC-13B8-499C-BFE1-BEB540787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940996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2B6D3CD-E806-485B-A3B1-487140D4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934" y="430363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B71FB2C-285D-40DA-A4DB-A6F3FF8FA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0970" y="4510101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A62684A-2A8B-4D20-B56E-3278C1D50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8636" y="3818873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A3B4A90-91D9-4365-AEDA-B579974A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8097" y="4537032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0B7F9D6-215C-4FE6-BA49-07C3B0530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637" y="5145222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BABAF23-E1EE-47FE-BAEE-EC27DF0BE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2259" y="501954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D0BC483-2033-4795-93F6-1C770689A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4897" y="5172243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FF82CB5-D1C2-4D0D-A965-CA700BC7C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8219" y="5129513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9D1D3AF-7F83-4499-B387-730743E89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957" y="5385357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6A22DA4-AA36-4132-BC1D-AA38416EE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1521" y="448317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8252A81-3DFF-46E4-A896-6788B0CC5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2349" y="4920798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65049F7-5AD7-4BCA-B1D3-3624CF022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1017" y="463129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8C8B54C-8CDD-4BB6-882A-60E296377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5139" y="51654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DB04584-AE07-4319-AB98-FF7515E6A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1963" y="4730037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6F20246-21F2-410F-B05F-15AA90D2A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327" y="5098093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AF49D6B-2CC5-4F2D-8F65-FC09A91AC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8937" y="51654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1BF7776-C147-4A0B-9769-21213E1F7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3855" y="519784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F5E2AE7-3ADA-4BA8-824E-90B3469EE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731" y="3850916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45C26C4-3515-49B8-8B3C-C750C9FF0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7502" y="4370553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668096A-C491-4A32-B541-4C7B62B52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136" y="481083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2686FB2-868C-4F6B-A89E-2CB6DC421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609" y="538984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4E1EE34-2023-4B02-80DE-61AEC606A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6825" y="4963438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717566E-CC51-4D14-945D-44BDF8D88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6328" y="480634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FD929C7-35FA-4A8D-B3EC-E0D991C0F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605" y="4756968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5ACC200-1C0D-414B-A932-85487B891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6335" y="436198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D8F74E7-9583-49C4-9931-1B8E79A8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9898" y="4700862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3FF045F-1136-464A-A8BE-5C34DB024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1783" y="5030766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36BAE29-B345-4F92-BDED-E70E45391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9249" y="4932019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9B438EF-AAB2-4B9D-B35A-9BCF5C85F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9781" y="4246119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01834F2-C711-4BD7-A207-B2B1E4117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325" y="53000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EFE78D7-0BD2-4BB3-A721-11B020559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3938" y="482474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A55DBCB-A876-4E5A-9E64-BE0B011B7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735" y="5012812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A6D8BEF-4572-4C84-A418-C796CA238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714" y="4817562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392A667-0514-4B67-850A-A48DDF41D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2647" y="480634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473EAB0-C6B5-418F-9DE7-8A4F7FC46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909" y="5041987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7C2E2C5-541D-44D4-8A2E-57958CB82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6845" y="4994858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E894646-8D17-4F29-B1F8-38F7AACD0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1604" y="39988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DBF2A7A-E2AF-4CFA-AE53-85314C72B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3026" y="492349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B71E419-2771-4204-BFA5-82EB2860E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5727" y="4456239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AE8170B-6F28-401D-9EE5-91A449215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5022" y="5089116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AC133CE-2FEF-410E-83BB-3CC0B932F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2426" y="462680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511907A-F714-441F-BF98-34452E1C0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0016" y="399447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6A434F79-E9B6-4224-8AAE-5D7DBEAC9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0194" y="5116047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EB274CA-5E01-4414-A076-86F084EE4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0575" y="4447262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044F9C2-B76F-49FD-BEED-BBF061EE9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056" y="5351693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0069424-F4C9-4459-BC83-8751EE10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4899" y="4979597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0FD5743-8589-4039-8B69-3DB8727B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6563" y="42273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B7A6423-9407-4CBC-9E73-3202DEAE8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284" y="4963438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6B2BD88-8E1D-4221-BBEC-B0D96D874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2902" y="4900599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FD605FD3-D170-4A25-B069-97473F9BE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6479" y="503121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E50C1DB9-1A37-40DB-AEAD-A5CF07EC6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5513" y="396026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F5D6129-0869-4F82-A2E6-9F78486B1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797" y="523948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5CBB62E2-ED33-4A12-A48E-0835CBDB7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9822" y="531578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C045BF8F-2E54-4C6C-9049-AF3059F57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3600" y="491586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5178B09-2A88-4A78-98DC-2A4BB4544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6030" y="5089116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6DB5B0F-5333-4FCE-9589-1BCFAC6AE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5471" y="503525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56D7AC9-EFC3-46F0-A53F-D3C98CAF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8019" y="507789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2BA37228-2AD5-4B64-923D-A947CA6FD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8400" y="452501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89E40D98-8D69-43BE-B0CC-FE3C18B1F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2143" y="4396932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7EAE044-A5EB-4767-87C4-67F6DEA5E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7529" y="51654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3C862979-21EA-4052-8CDC-F19DCE7FD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5665" y="48516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92443A6C-FF89-45CD-8CEC-6ED81FB1F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693" y="4940996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B10DC570-72F7-4D55-9CAD-171F3626D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8269" y="4537032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1B4F489B-74B0-4851-9DC2-2112C8101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1072" y="515195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7CFD7B2B-B368-4F7F-82E8-0B7944F3D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205" y="5232748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B942AD74-BC28-4E21-926F-8D4D014E7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2336" y="4685152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A6A655CC-1824-486E-9DD0-0E88BBEA4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799" y="5026277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59772F26-B49F-4C49-BC95-E42FAA50F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1438" y="4788387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3AE69656-EDBE-4B72-A8DD-81BE95AEC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8310" y="5125186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5DD9EEC6-19E9-4CB4-81E3-5DBC69EF2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4186" y="515644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D0069C21-9082-4DB9-9512-98D367FB1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978" y="512502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A1209947-3DD5-4394-864F-18765A9A4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9228" y="4963438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5AF30AF0-1DC0-4B50-9051-F3B28C2BD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726" y="5026277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C0757474-73AB-42A2-A34A-85105D088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2626" y="415551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9DFA9644-F702-4F52-8FC4-2F550FF22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3020" y="4869629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A29543DA-EA9D-491A-BC7E-064BD74D7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582" y="457518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04533AFC-91B1-4298-B399-420BBBCF8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432" y="466046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35D46986-FC4B-4B0F-9D6E-91838E5DA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8980" y="50357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AA2BBB26-EDAB-4F3C-998D-40197E96F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714" y="5095849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8C01678C-F925-40B7-ADCC-CF09562FD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6258" y="515644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FC93FC2E-19A1-4C7E-B6F2-317EA7EEB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181" y="4546008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4F979FAF-D91D-40C2-9DC4-5D791F373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4159" y="4557903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1E0E8A2E-044C-4D16-8697-227D3C47A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4836" y="3888749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5AC39AD1-E892-4595-B871-9FD615A52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245" y="4873668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8410E22B-F9B4-48EF-B49C-4C6CD1C5D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9711" y="4887583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A5D94CF1-44B5-4E36-9C40-7055B2693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3399" y="5129513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00EB27BD-60C1-4A9D-81B2-59080E5D2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1065" y="461782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FB7E7B2D-D17F-4845-9DB9-95CBB6D90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7585" y="463353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F80DE7A-7D6C-44F4-8319-ABDB8B515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2128" y="4782103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A5D07CB5-F1D0-4FFC-97CF-64EC5FE48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8199" y="4801853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6CF05F75-E757-4EC3-B5E4-9517C6804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7667" y="5074529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9E069AA2-CFE8-4417-AF12-AB85E509E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812" y="5030766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1C00714E-87C7-4E55-A9DE-EF052FB45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6610" y="5120536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5E667AD2-53E1-4E85-87DB-30E801AAA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589" y="5279877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0624651A-4692-4F64-9C7D-F99B8FD27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5940" y="548904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522E13BE-F033-47D4-959D-0CCE3795B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693" y="504423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D41426F3-5FF6-4C1D-8968-C513F75E8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8621" y="507565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D11B303A-DEC4-4E32-AD89-CC7116A54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084" y="497690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DF3B9AA0-2190-4756-928F-A3302CFC3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2584" y="5008323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915A0CB2-4E0A-45D6-BF25-2C1E017FF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3413" y="5121658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65BF58AA-6431-4D0F-98F2-1BC7AAE99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3013" y="5053208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39C951CE-77A4-4F9D-B31F-823E64526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1672" y="5120536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1FEC75DD-25FD-4807-A684-AD3E6C4FB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0851" y="5026277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D98DA981-1432-4F5B-B672-9DA2211B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537" y="4756968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A0E71B73-273C-4C71-B116-B122ACA5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9636" y="4851226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6A049940-B047-492B-ABD7-60FF65B9A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7813" y="4267722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B4004317-045C-438B-ABEF-9752CEF58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4173" y="497241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2E579327-1EB2-4234-B558-D604F81AF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8524" y="423181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4E7253FB-B994-4567-B916-89DB82ECD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3399" y="4963438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E81C788D-A675-4B3C-8CF0-CF57874F9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4448" y="5080139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30C6ADB9-9C23-4220-A4D7-A9C94B01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1189" y="499261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B929DE3E-2C66-4693-9F4B-9030B122B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530" y="512278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74063127-7E18-4F52-B65C-70B5A2996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156" y="5102582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55E55F92-1C1D-41DF-A4CA-012DDCAB9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8344" y="5026277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E22DFB92-DBF3-4A56-87AE-EF53BF3F9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2115" y="4994858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9E88DF80-6C8C-4932-9E66-191C033A4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3827" y="5010568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713B6BF4-79DE-454F-BA38-507A4811C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3965" y="48516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A7641734-5F56-4ED8-8156-0CFACA295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744" y="4254256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8C07C531-C89C-4497-91C7-A6DBF9BE7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0740" y="510707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DBC8C8EA-878C-4783-99E4-A61A2E984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797" y="5065552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D06F32BD-CD5E-4471-AF90-07EE3FAB2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801" y="477941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09B544D9-C79B-4FEC-BD36-A1DFE85EE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8330" y="474799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2F94C0C1-65FA-4BEB-B3A5-0CA03DA9D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6576" y="420039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ADB0274E-649C-448F-BF13-097264F9B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5595" y="523948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060C7E87-3237-463C-86F9-261697076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6513" y="5275837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4898A2D7-EF3D-4609-B138-ED9D4F2D3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2846" y="4989023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8FFC9124-1ABA-4D0D-8DF4-E03CAAEA9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8427" y="4801853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F626C05F-F2A6-4BC3-9DDE-6996B4536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0293" y="4245279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96EF319D-4053-4977-824F-99EAE1BE0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2108" y="5053208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F38CE2DD-2655-410E-9839-0875D8A1F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6520" y="510707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6F9EC412-C382-4430-950C-B5E5EEA75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6107" y="4386833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E6248C7B-DB33-413A-BA68-0DB7152CC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8668" y="5086872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08CD8FBB-9F16-42C8-A344-478D6725F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5499" y="485347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F8E0E93F-F81A-48B0-83C5-AA1B313C5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2633" y="3760522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FC49BB54-17D8-4848-B760-21DB0318B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6044" y="5232748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F04A5B80-4B84-4621-8C35-2C55F7002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1038" y="4768189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426CFD2F-A1F8-4BCB-9E4B-AA083853A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8662" y="48516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8D1FC0A7-B018-45C3-8057-8C4CD68BD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8061" y="5142978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62240661-D4F2-4435-8264-AB6E2D576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394" y="50173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4A38BF4D-FD75-47D5-82F0-5A2BA36A3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1631" y="4662709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32EF71C0-A1D2-441A-9FD2-AF6975D33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7888" y="50464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7177C187-CD7D-40E7-BA69-C301CD22F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3385" y="4949973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6063560F-A3CA-482B-8E97-DB9D5D8BB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1776" y="521030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C35A35A6-0E86-4CD4-BE30-41609415C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259" y="467393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5B2B9B81-48F0-4E98-9043-A09553470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615" y="4786143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DE7CC5E2-9B4B-4167-A452-5540ECC80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744" y="4999346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E7E674A5-162D-4D4A-8F74-C8DA57155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3338" y="4694129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D8F875C7-B4F8-4B57-8CFE-815378609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5256" y="5053208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3EE7A119-3C00-467C-BB8E-FA5D5C7FD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8019" y="528212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C40725FE-EBB1-4F76-9121-48E898147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2115" y="5082383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3910E378-AE7C-4C68-9DBD-B9290FEAB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1424" y="494548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B6E6C4C0-6B4D-4B99-98C8-C7AC232C6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7522" y="547961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384C422C-2C85-442E-809C-DACF4BE36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2115" y="486918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9FFB010A-2F8C-4466-AC6E-734C5B4C1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3552" y="4563962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FB680FD8-B7AC-41FF-A717-D922836C0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6687" y="507565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22BB5C1B-A5BF-407D-BD70-F12B1D3B1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90" y="4952217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C80086CA-E2CC-42AB-A299-E766E2117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9718" y="5092819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6672A0E9-3489-4B0E-A362-17E3A0E3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6479" y="487142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356A7F14-BE01-4C63-AAC0-450080CCF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122" y="4907332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2C99576D-98B4-4EFB-8839-EEC81C49F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245" y="4856163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8B5F13AA-D2C9-4E46-823F-B7A1147A8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7391" y="5201328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048DED1B-7AE3-498B-B091-E2F27B30D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4477" y="397597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037A44A5-B921-4F34-93C4-3B3F9A080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8551" y="4945933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6D0FB84C-6275-422A-8516-975BB5E59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647" y="521030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CEEBA19E-0B34-4A71-B931-A86813F6A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7149" y="488264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467D1AB9-53D4-4D48-8EF0-3282F64F7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9449" y="4783899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40F2C801-C725-4705-9D09-1590AAD1B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797" y="506218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32337114-DDD1-466A-9C15-7B0CAD9B8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863" y="516766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F4B2C417-4832-400C-A560-AA5D81FF3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7073" y="5041987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E43FB84A-237F-4D1A-AB18-2BEC1F2E8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9145" y="5102582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35428884-748C-4FB4-A1D4-C074C2201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4567" y="4492147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353D1C1B-FF35-4BA3-9635-57D72FC1D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9352" y="4819358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F4242A71-6597-41B8-9420-83C3B8D8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530" y="50173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615E8724-BBBC-474C-BE5F-96345F7AB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0609" y="5012812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8C5BA3C1-B6BB-4099-9A48-AA2FBB3FC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5712" y="5048899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DF7BABFA-8A0A-4F18-B240-448149DAB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755" y="423154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F1956A81-1542-4BB9-A476-277292A09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4884" y="4774922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1450E86D-FB9B-4AD0-A431-07D11707A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853" y="482205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5E0BBAEE-BE69-4428-B7CA-AE6F27275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2322" y="437993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C68E1FAF-1FA9-466C-89FD-6B145C0B9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4622" y="4925286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B40352A4-E3FA-41D9-8129-1D672FAC1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0575" y="4694129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9F3CBE81-C661-4304-99EF-05A145643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34" y="4649693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B633499C-A5F7-4537-BE80-141C4A7E9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042" y="5253619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CA665624-6E9A-4255-B00B-DA650D59C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726" y="485571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A363A5AF-959C-4521-997D-5B5B1FE03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531" y="5259679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206292D3-FC72-49A1-8904-45F00B130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4173" y="4943536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FD91A039-2877-4FE9-9A82-DE3538426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3426" y="5098542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862722DF-4C79-414F-BA1B-FF9824448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2846" y="50173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B307BD53-B13D-4507-BA45-BA2CBECF9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1313" y="4700862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0A0B05EB-4303-40C1-B4BB-001073464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652" y="4832823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013ACA83-6583-408A-BE3D-F07FE7ECF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3979" y="50761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584435AC-31C7-49D3-9538-BC8BE4643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9345" y="5142978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03541901-9B3D-4618-979A-4C349D9AC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8310" y="51256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234EAF84-809F-406B-8D0F-C2BA6BBF8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2363" y="4817562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65358AA7-D5BA-4890-A123-9E82B28AA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7556" y="5154199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AD378B14-F345-49BA-8322-E906D7147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8275" y="4397888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CB574CC1-7112-43AF-8267-8AEDF5B08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8806" y="5084628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9E3C2D05-E58A-427B-8E0B-577A70E09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1541" y="457518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A8168BCE-4131-4284-B9C7-8241C0FB1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209" y="4918553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7E8BF4EC-FA52-41BC-AC16-463689AD1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642" y="5174398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F556459F-4425-40A1-8BC1-AA31F2730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6741" y="5127717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9E8E8773-5AC6-41FA-A4E4-76D341ECF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568" y="4384423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0A0CBB19-D1A5-4A82-9600-15BA34741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937" y="5111559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01D3E9AD-FE86-40B5-9526-82782CC50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859" y="5016178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DD684D24-DAFC-4BA1-A1FA-DE9538B00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8082" y="5174398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0E6D1C25-AAFD-4E82-999F-56252D989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3593" y="5055758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F619C20B-AD85-4C14-8C33-4D573D718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957" y="512502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D494A8FC-7E3F-4355-AE50-A6D9E46E8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2135" y="5030766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ED76C48E-212D-4E57-B491-47CE11A6C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284" y="479736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D0930D0E-FCF8-423F-8BDB-E16FF3CB0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9180" y="464475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E9485836-68F0-4E25-B905-19835D20D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8592" y="5396578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72F3D37F-8A4D-4EE7-825B-9DF7D486B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365" y="455947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B87ABC6C-9ABD-4347-AAE1-D2C653A96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2322" y="461782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A21836D9-96A1-4A11-85FF-1B35087F1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8821" y="525519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020FF000-A1DC-448D-9785-2F0CA7011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3067" y="515644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C1611793-77BC-4F43-898D-4DC9F6FBD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9262" y="4999346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F91F3765-BEA7-4E19-90D1-B8DFECC37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058" y="470759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AECAB1F8-BE16-4C41-9876-05A9CF4A7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494" y="3935708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D5F19C38-482C-402F-AE28-5023D4C82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5809" y="489611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37CD726E-E4DE-42E3-BCD7-126665A95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8000" y="494324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38BD8B6F-D8CC-4E7A-8E76-F39650364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4159" y="50464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C23F2628-D53A-45E9-98AB-37B76B698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6866" y="498633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CC9B902B-3970-432F-A105-CB4629940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7323" y="392547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0730AF56-61E9-4BD9-A5B0-45C5EB753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1169" y="4817562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8585376B-B058-4448-8659-B22D60154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646" y="5127268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B6CD617D-26D1-4368-AC92-F7C16CEBF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888" y="5268656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8F4C73A3-1713-4423-B171-6696C0D98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7820" y="488489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DAB3A536-8AD0-47E6-A606-58EC74713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8592" y="5082383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4BC6ADA4-791D-4395-887B-A63FE887B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9221" y="471657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E62537AB-8F90-45DE-BE0F-AFBB870AB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3600" y="4743502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470019EA-3D11-41CC-AA15-865B97AA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957" y="5165869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AA88DFF5-15AD-4939-87D1-D90460091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9587" y="514520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2BB70358-2FA9-439F-BE9D-E55FE1F3E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6838" y="487142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BBA6E26E-07D7-4774-82CA-563813569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9738" y="5095849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DA36A4B4-3477-4EB9-9EEC-4EE31C62A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9021" y="482878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48C58DE4-9359-4CAB-8FDF-B33088B43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270" y="5102582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E2CB46EC-4A2A-41E9-9EFF-3603DAE97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6935" y="5098093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59056825-95F1-4F12-AC98-1AC8ECA8B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0499" y="4561269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C2D7907C-C3BB-43B7-9B83-968937F60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8592" y="5026277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7CB31070-8F43-4AE1-8AAF-25AC7279C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059" y="5246213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2B94A81F-ABB0-4C60-9687-3BAF0DB56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5057" y="488713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583DD202-EAA9-4D4E-A5BF-7CB7B9B94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3288" y="4994858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94B47E50-527D-40E2-9600-9BC565D48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9255" y="500383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D09A489F-F6F7-454E-AFFB-7C47EAD64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993" y="524935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610081AB-1DB1-4B0E-9618-D70AC88A7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4297" y="478748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6E1C3A73-121A-4ABC-A43E-097DD8A8A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1417" y="4878157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F145D976-C497-4A3B-A983-4C7C5678B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2584" y="488489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65AD2C8E-5442-4CFD-B5CC-FC42EFF0F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9172" y="5277633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D48F593B-E80C-474C-9511-1A8CF228F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582" y="448541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B5738918-F595-410D-8BE7-5622AA827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663" y="4963438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F4176414-7E1D-4E14-84E8-9E32D66C5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0907" y="4590893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D9D326E6-423E-4857-BDC8-79A599404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7881" y="486918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35A7D5D5-1743-4521-B8AF-973C59F44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517" y="5250702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F0C0FE9D-AA4C-4649-9422-8C99F0D63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8123" y="512502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95E3F460-8C5F-4E1C-B1C1-0313B50F6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0616" y="4680663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94C69133-799F-4E3E-B6B2-4D83F2704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2936" y="4874117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9F2191D3-AA5B-43BD-AA86-0F19C3415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6382" y="5053208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221773A1-09EA-4B69-B326-93866B7E5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6238" y="4860203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64D7BDF7-5007-40FF-A13B-8C9A1D0CF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6569" y="488489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1695222E-C8C9-410A-8AC1-B74213E35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4062" y="4873668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A35BC65D-9832-4F09-B0E2-86EC15071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9090" y="462680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CC7A3B39-255A-4488-8AAD-930038CB0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9849" y="501393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84F27AA7-3A5F-4BEF-9FBD-5192AB96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3164" y="5064429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82D25FD6-653E-41F6-86D8-6A43F5E4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7874" y="4920798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DCCE07B0-0EE7-40F4-9625-320A3704E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7833" y="3964749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615803E1-96C9-430A-8266-000198A83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7439" y="5080139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66F47387-CD71-445A-83BB-FB27EBF20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8869" y="512502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0AFE50F4-B2CF-45E4-8ECE-85E53D7CC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9456" y="4640267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44221E98-FF8A-480B-9B74-CCFC5FC08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3282" y="4949973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C08B8138-E6AC-44C7-B9E4-8453F7722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9255" y="4981392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99D0F634-70B1-4199-8B4C-B1C80B75E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3385" y="515644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A0AA7915-0741-4E25-9ED7-4F6443167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1466" y="449439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BC291D3B-6C9C-406B-AB11-C543E1E6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1466" y="4900599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A95FCE2F-5A37-4670-A2BF-3E4EF99BE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8592" y="515981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1B328E8E-B610-4253-8CF9-6602090D8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3096" y="4712083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3535A56D-6C3D-4D82-AF28-124D4CF6D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9835" y="486918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F2582871-7123-4D38-8EEA-6FD179AC7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1569" y="5264167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1A308A42-2DE6-45B8-B817-705F123DB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4145" y="4772677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4EACA84F-A1C4-4678-A03F-6FA14E22B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5416" y="4597626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B6BFE0C1-D00C-4DB5-A75F-ADC6A0005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9822" y="497241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71F456C4-1EE7-4B6B-97DA-CE13492FF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7267" y="4653732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52B8FA33-B040-479B-BFDC-288CABA68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4311" y="4988798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8330DA08-D925-4E32-BDBA-FD8A371C8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8206" y="493314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7E294B96-56CA-4197-AA65-F18375063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771" y="530456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531F54AA-85A6-4214-9888-8D81DAECB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4256" y="4402377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0736BC91-91B9-4513-B850-1C352D93E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3013" y="5053208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3BD2716B-C525-434A-A6E6-D6AF891A6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853" y="504872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F6FD00D8-55D2-4734-8CFD-03D6C3361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8206" y="5113803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29CEC5F8-C453-4914-AA68-42397DD6A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8199" y="4833272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6F64B6F1-7FB6-4389-9A11-AB203A161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3414" y="316804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4DCA4F26-111C-4169-B5E6-C0686538A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7542" y="5021789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2A4A93D6-4770-44A5-85C7-F1397FE0A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516" y="497690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AA83BCBD-C5E6-4994-8BE8-76F564806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8226" y="525756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6489E23B-03AE-4D3C-AA1E-7785C6EBB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2252" y="49544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BF3F289A-ACB1-4AD9-A91F-3A4288473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4753" y="515195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6" name="">
            <a:extLst xmlns:a="http://schemas.openxmlformats.org/drawingml/2006/main">
              <a:ext uri="{FF2B5EF4-FFF2-40B4-BE49-F238E27FC236}">
                <a16:creationId xmlns:a16="http://schemas.microsoft.com/office/drawing/2014/main" id="{A576073F-74FD-4202-9CAC-37014993D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5057" y="4449506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975092AE-40CC-4A22-B11C-BD8A93AF3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4857" y="5030766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B9BF0490-0586-4311-B412-8964CF4DE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2045" y="512502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9" name="">
            <a:extLst xmlns:a="http://schemas.openxmlformats.org/drawingml/2006/main">
              <a:ext uri="{FF2B5EF4-FFF2-40B4-BE49-F238E27FC236}">
                <a16:creationId xmlns:a16="http://schemas.microsoft.com/office/drawing/2014/main" id="{482D05A9-BBD4-4909-893D-C26E53411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340" y="442605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0" name="">
            <a:extLst xmlns:a="http://schemas.openxmlformats.org/drawingml/2006/main">
              <a:ext uri="{FF2B5EF4-FFF2-40B4-BE49-F238E27FC236}">
                <a16:creationId xmlns:a16="http://schemas.microsoft.com/office/drawing/2014/main" id="{A52400CB-8C0C-408A-82B4-B4A164EDA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2128" y="47345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7C978ECF-F43B-4356-962F-B9CF3F28B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8592" y="5086872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2" name="">
            <a:extLst xmlns:a="http://schemas.openxmlformats.org/drawingml/2006/main">
              <a:ext uri="{FF2B5EF4-FFF2-40B4-BE49-F238E27FC236}">
                <a16:creationId xmlns:a16="http://schemas.microsoft.com/office/drawing/2014/main" id="{091CAA91-C81B-4B08-9205-BADA40E0B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4511" y="443828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4561CE81-4C3F-49C0-AA8C-37394A2F3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9221" y="513400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4" name="">
            <a:extLst xmlns:a="http://schemas.openxmlformats.org/drawingml/2006/main">
              <a:ext uri="{FF2B5EF4-FFF2-40B4-BE49-F238E27FC236}">
                <a16:creationId xmlns:a16="http://schemas.microsoft.com/office/drawing/2014/main" id="{D6CB424C-577F-4386-B3D0-B98F6F44C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6729" y="4761456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5" name="">
            <a:extLst xmlns:a="http://schemas.openxmlformats.org/drawingml/2006/main">
              <a:ext uri="{FF2B5EF4-FFF2-40B4-BE49-F238E27FC236}">
                <a16:creationId xmlns:a16="http://schemas.microsoft.com/office/drawing/2014/main" id="{3F252C95-DAB9-4893-95EA-C646911FC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074" y="4424819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6" name="">
            <a:extLst xmlns:a="http://schemas.openxmlformats.org/drawingml/2006/main">
              <a:ext uri="{FF2B5EF4-FFF2-40B4-BE49-F238E27FC236}">
                <a16:creationId xmlns:a16="http://schemas.microsoft.com/office/drawing/2014/main" id="{1816F718-CF96-4EE8-9BA6-3C258BCBB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642" y="515195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57E4C484-725A-4C12-98A2-426FDF376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1176" y="4332836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8" name="">
            <a:extLst xmlns:a="http://schemas.openxmlformats.org/drawingml/2006/main">
              <a:ext uri="{FF2B5EF4-FFF2-40B4-BE49-F238E27FC236}">
                <a16:creationId xmlns:a16="http://schemas.microsoft.com/office/drawing/2014/main" id="{DE983ED7-64E1-4B21-B911-7FC243FDF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3054" y="509360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9" name="">
            <a:extLst xmlns:a="http://schemas.openxmlformats.org/drawingml/2006/main">
              <a:ext uri="{FF2B5EF4-FFF2-40B4-BE49-F238E27FC236}">
                <a16:creationId xmlns:a16="http://schemas.microsoft.com/office/drawing/2014/main" id="{C3689BF9-7D91-4CE8-9EB3-CD785059D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3758" y="5160932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8508A704-0367-4B9C-9BFF-7938ACF61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7087" y="53000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1" name="">
            <a:extLst xmlns:a="http://schemas.openxmlformats.org/drawingml/2006/main">
              <a:ext uri="{FF2B5EF4-FFF2-40B4-BE49-F238E27FC236}">
                <a16:creationId xmlns:a16="http://schemas.microsoft.com/office/drawing/2014/main" id="{B3592611-9D74-4469-9341-2529262FC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1936" y="443873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2" name="">
            <a:extLst xmlns:a="http://schemas.openxmlformats.org/drawingml/2006/main">
              <a:ext uri="{FF2B5EF4-FFF2-40B4-BE49-F238E27FC236}">
                <a16:creationId xmlns:a16="http://schemas.microsoft.com/office/drawing/2014/main" id="{0CB8F090-4845-41FE-9656-8AF3F4AC5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0512" y="4854817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E3EFC290-EBC8-41EB-99A5-0E28C6020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2832" y="5277633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4" name="">
            <a:extLst xmlns:a="http://schemas.openxmlformats.org/drawingml/2006/main">
              <a:ext uri="{FF2B5EF4-FFF2-40B4-BE49-F238E27FC236}">
                <a16:creationId xmlns:a16="http://schemas.microsoft.com/office/drawing/2014/main" id="{E489C439-1986-4D18-93AE-D36AA24F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2819" y="5165869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5" name="">
            <a:extLst xmlns:a="http://schemas.openxmlformats.org/drawingml/2006/main">
              <a:ext uri="{FF2B5EF4-FFF2-40B4-BE49-F238E27FC236}">
                <a16:creationId xmlns:a16="http://schemas.microsoft.com/office/drawing/2014/main" id="{584409BC-1AB8-4011-8BF9-3D7B9A209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5886" y="494548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6" name="">
            <a:extLst xmlns:a="http://schemas.openxmlformats.org/drawingml/2006/main">
              <a:ext uri="{FF2B5EF4-FFF2-40B4-BE49-F238E27FC236}">
                <a16:creationId xmlns:a16="http://schemas.microsoft.com/office/drawing/2014/main" id="{213FC716-1F23-4EF1-AA7C-6547ADC07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8206" y="500383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7" name="">
            <a:extLst xmlns:a="http://schemas.openxmlformats.org/drawingml/2006/main">
              <a:ext uri="{FF2B5EF4-FFF2-40B4-BE49-F238E27FC236}">
                <a16:creationId xmlns:a16="http://schemas.microsoft.com/office/drawing/2014/main" id="{002697FC-4673-4363-81A1-64AB38082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8262" y="4415842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8" name="">
            <a:extLst xmlns:a="http://schemas.openxmlformats.org/drawingml/2006/main">
              <a:ext uri="{FF2B5EF4-FFF2-40B4-BE49-F238E27FC236}">
                <a16:creationId xmlns:a16="http://schemas.microsoft.com/office/drawing/2014/main" id="{CC67D02B-6688-4AF0-AA14-44653B976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6037" y="530052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9" name="">
            <a:extLst xmlns:a="http://schemas.openxmlformats.org/drawingml/2006/main">
              <a:ext uri="{FF2B5EF4-FFF2-40B4-BE49-F238E27FC236}">
                <a16:creationId xmlns:a16="http://schemas.microsoft.com/office/drawing/2014/main" id="{F9C9B440-DDE9-4991-8FED-A699C4BBE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4408" y="5221527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0" name="">
            <a:extLst xmlns:a="http://schemas.openxmlformats.org/drawingml/2006/main">
              <a:ext uri="{FF2B5EF4-FFF2-40B4-BE49-F238E27FC236}">
                <a16:creationId xmlns:a16="http://schemas.microsoft.com/office/drawing/2014/main" id="{B507D171-33D2-468A-9298-C198E4537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2846" y="50464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1" name="">
            <a:extLst xmlns:a="http://schemas.openxmlformats.org/drawingml/2006/main">
              <a:ext uri="{FF2B5EF4-FFF2-40B4-BE49-F238E27FC236}">
                <a16:creationId xmlns:a16="http://schemas.microsoft.com/office/drawing/2014/main" id="{D1573733-4C19-46E1-91DA-9927B0D19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1106" y="4963438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2" name="">
            <a:extLst xmlns:a="http://schemas.openxmlformats.org/drawingml/2006/main">
              <a:ext uri="{FF2B5EF4-FFF2-40B4-BE49-F238E27FC236}">
                <a16:creationId xmlns:a16="http://schemas.microsoft.com/office/drawing/2014/main" id="{4CB1552F-5168-4CF8-8B98-BBF40C642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4960" y="5188312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3" name="">
            <a:extLst xmlns:a="http://schemas.openxmlformats.org/drawingml/2006/main">
              <a:ext uri="{FF2B5EF4-FFF2-40B4-BE49-F238E27FC236}">
                <a16:creationId xmlns:a16="http://schemas.microsoft.com/office/drawing/2014/main" id="{AB490FF7-F39D-4504-9421-4159BCFDC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944" y="504872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4" name="">
            <a:extLst xmlns:a="http://schemas.openxmlformats.org/drawingml/2006/main">
              <a:ext uri="{FF2B5EF4-FFF2-40B4-BE49-F238E27FC236}">
                <a16:creationId xmlns:a16="http://schemas.microsoft.com/office/drawing/2014/main" id="{2558D24A-0B54-49EE-805A-89A065B36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508" y="506218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5" name="">
            <a:extLst xmlns:a="http://schemas.openxmlformats.org/drawingml/2006/main">
              <a:ext uri="{FF2B5EF4-FFF2-40B4-BE49-F238E27FC236}">
                <a16:creationId xmlns:a16="http://schemas.microsoft.com/office/drawing/2014/main" id="{A87EA7AE-9649-42EF-A890-458939A04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9218" y="2190750"/>
            <a:ext cx="190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F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6" name="">
            <a:extLst xmlns:a="http://schemas.openxmlformats.org/drawingml/2006/main">
              <a:ext uri="{FF2B5EF4-FFF2-40B4-BE49-F238E27FC236}">
                <a16:creationId xmlns:a16="http://schemas.microsoft.com/office/drawing/2014/main" id="{500372DC-AD27-46C6-B381-592599D1F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4468" y="23050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B94F4F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B94F4F"/>
                </a:solidFill>
                <a:latin typeface="Avenir Next"/>
                <a:ea typeface="Avenir Next"/>
                <a:cs typeface="Avenir Next"/>
              </a:rPr>
              <a:t>IQR üst sınırı: 2748 ft²</a:t>
            </a:r>
          </a:p>
        </p:txBody>
      </p:sp>
      <p:sp>
        <p:nvSpPr>
          <p:cNvPr id="367" name="">
            <a:extLst xmlns:a="http://schemas.openxmlformats.org/drawingml/2006/main">
              <a:ext uri="{FF2B5EF4-FFF2-40B4-BE49-F238E27FC236}">
                <a16:creationId xmlns:a16="http://schemas.microsoft.com/office/drawing/2014/main" id="{97247F0F-50FB-4784-B907-E8B2CB46A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0"/>
            <a:ext cx="57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06C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6706C"/>
                </a:solidFill>
                <a:latin typeface="Avenir Next"/>
                <a:ea typeface="Avenir Next"/>
                <a:cs typeface="Avenir Next"/>
              </a:rPr>
              <a:t>300</a:t>
            </a:r>
          </a:p>
        </p:txBody>
      </p:sp>
      <p:sp>
        <p:nvSpPr>
          <p:cNvPr id="368" name="">
            <a:extLst xmlns:a="http://schemas.openxmlformats.org/drawingml/2006/main">
              <a:ext uri="{FF2B5EF4-FFF2-40B4-BE49-F238E27FC236}">
                <a16:creationId xmlns:a16="http://schemas.microsoft.com/office/drawing/2014/main" id="{5E346D29-F5DD-4F9B-8B92-6BF8FCF3D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7150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66706C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6706C"/>
                </a:solidFill>
                <a:latin typeface="Avenir Next"/>
                <a:ea typeface="Avenir Next"/>
                <a:cs typeface="Avenir Next"/>
              </a:rPr>
              <a:t>5.000 ft²</a:t>
            </a:r>
          </a:p>
        </p:txBody>
      </p:sp>
      <p:sp>
        <p:nvSpPr>
          <p:cNvPr id="369" name="">
            <a:extLst xmlns:a="http://schemas.openxmlformats.org/drawingml/2006/main">
              <a:ext uri="{FF2B5EF4-FFF2-40B4-BE49-F238E27FC236}">
                <a16:creationId xmlns:a16="http://schemas.microsoft.com/office/drawing/2014/main" id="{994884C8-8984-494B-A5BC-7D58342A4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56959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66706C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66706C"/>
                </a:solidFill>
                <a:latin typeface="Avenir Next"/>
                <a:ea typeface="Avenir Next"/>
                <a:cs typeface="Avenir Next"/>
              </a:rPr>
              <a:t>GrLivArea</a:t>
            </a:r>
          </a:p>
        </p:txBody>
      </p:sp>
      <p:sp>
        <p:nvSpPr>
          <p:cNvPr id="370" name="">
            <a:extLst xmlns:a="http://schemas.openxmlformats.org/drawingml/2006/main">
              <a:ext uri="{FF2B5EF4-FFF2-40B4-BE49-F238E27FC236}">
                <a16:creationId xmlns:a16="http://schemas.microsoft.com/office/drawing/2014/main" id="{4FD3FE8D-C2C5-48FF-BA14-87AFAD2ED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33600"/>
            <a:ext cx="2209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IQR bayrakları</a:t>
            </a:r>
          </a:p>
        </p:txBody>
      </p:sp>
      <p:sp>
        <p:nvSpPr>
          <p:cNvPr id="371" name="">
            <a:extLst xmlns:a="http://schemas.openxmlformats.org/drawingml/2006/main">
              <a:ext uri="{FF2B5EF4-FFF2-40B4-BE49-F238E27FC236}">
                <a16:creationId xmlns:a16="http://schemas.microsoft.com/office/drawing/2014/main" id="{D92941FC-E026-4C5C-B603-1259F36A2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71750"/>
            <a:ext cx="1352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LotArea</a:t>
            </a:r>
          </a:p>
        </p:txBody>
      </p:sp>
      <p:sp>
        <p:nvSpPr>
          <p:cNvPr id="372" name="">
            <a:extLst xmlns:a="http://schemas.openxmlformats.org/drawingml/2006/main">
              <a:ext uri="{FF2B5EF4-FFF2-40B4-BE49-F238E27FC236}">
                <a16:creationId xmlns:a16="http://schemas.microsoft.com/office/drawing/2014/main" id="{BCFB1C8F-4E6E-434A-A0DE-4F2044AB5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543175"/>
            <a:ext cx="438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D87941"/>
                </a:solidFill>
                <a:latin typeface="Baskerville"/>
                <a:ea typeface="Baskerville"/>
                <a:cs typeface="Baskerville"/>
              </a:defRPr>
            </a:pPr>
            <a:r>
              <a:rPr sz="1350" b="1">
                <a:solidFill>
                  <a:srgbClr val="D87941"/>
                </a:solidFill>
                <a:latin typeface="Baskerville"/>
                <a:ea typeface="Baskerville"/>
                <a:cs typeface="Baskerville"/>
              </a:rPr>
              <a:t>67</a:t>
            </a:r>
          </a:p>
        </p:txBody>
      </p:sp>
      <p:sp>
        <p:nvSpPr>
          <p:cNvPr id="373" name="">
            <a:extLst xmlns:a="http://schemas.openxmlformats.org/drawingml/2006/main">
              <a:ext uri="{FF2B5EF4-FFF2-40B4-BE49-F238E27FC236}">
                <a16:creationId xmlns:a16="http://schemas.microsoft.com/office/drawing/2014/main" id="{F6CD29DC-13FE-45EF-8D6A-795124B2C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59080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706C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66706C"/>
                </a:solidFill>
                <a:latin typeface="Avenir Next"/>
                <a:ea typeface="Avenir Next"/>
                <a:cs typeface="Avenir Next"/>
              </a:rPr>
              <a:t>4.6%</a:t>
            </a:r>
          </a:p>
        </p:txBody>
      </p:sp>
      <p:sp>
        <p:nvSpPr>
          <p:cNvPr id="374" name="">
            <a:extLst xmlns:a="http://schemas.openxmlformats.org/drawingml/2006/main">
              <a:ext uri="{FF2B5EF4-FFF2-40B4-BE49-F238E27FC236}">
                <a16:creationId xmlns:a16="http://schemas.microsoft.com/office/drawing/2014/main" id="{CEF468F8-2101-4375-A213-73C7E811A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76550"/>
            <a:ext cx="2457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5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5" name="">
            <a:extLst xmlns:a="http://schemas.openxmlformats.org/drawingml/2006/main">
              <a:ext uri="{FF2B5EF4-FFF2-40B4-BE49-F238E27FC236}">
                <a16:creationId xmlns:a16="http://schemas.microsoft.com/office/drawing/2014/main" id="{AB77AE67-0669-4559-9F7A-CCB821B86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24200"/>
            <a:ext cx="1352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SalePrice</a:t>
            </a:r>
          </a:p>
        </p:txBody>
      </p:sp>
      <p:sp>
        <p:nvSpPr>
          <p:cNvPr id="376" name="">
            <a:extLst xmlns:a="http://schemas.openxmlformats.org/drawingml/2006/main">
              <a:ext uri="{FF2B5EF4-FFF2-40B4-BE49-F238E27FC236}">
                <a16:creationId xmlns:a16="http://schemas.microsoft.com/office/drawing/2014/main" id="{569908BE-6E7D-4833-A2A2-3CFF074AB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95625"/>
            <a:ext cx="438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D87941"/>
                </a:solidFill>
                <a:latin typeface="Baskerville"/>
                <a:ea typeface="Baskerville"/>
                <a:cs typeface="Baskerville"/>
              </a:defRPr>
            </a:pPr>
            <a:r>
              <a:rPr sz="1350" b="1">
                <a:solidFill>
                  <a:srgbClr val="D87941"/>
                </a:solidFill>
                <a:latin typeface="Baskerville"/>
                <a:ea typeface="Baskerville"/>
                <a:cs typeface="Baskerville"/>
              </a:rPr>
              <a:t>60</a:t>
            </a:r>
          </a:p>
        </p:txBody>
      </p:sp>
      <p:sp>
        <p:nvSpPr>
          <p:cNvPr id="377" name="">
            <a:extLst xmlns:a="http://schemas.openxmlformats.org/drawingml/2006/main">
              <a:ext uri="{FF2B5EF4-FFF2-40B4-BE49-F238E27FC236}">
                <a16:creationId xmlns:a16="http://schemas.microsoft.com/office/drawing/2014/main" id="{05EEEB4E-825F-4407-BA83-A62368CF6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14325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706C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66706C"/>
                </a:solidFill>
                <a:latin typeface="Avenir Next"/>
                <a:ea typeface="Avenir Next"/>
                <a:cs typeface="Avenir Next"/>
              </a:rPr>
              <a:t>4.1%</a:t>
            </a:r>
          </a:p>
        </p:txBody>
      </p:sp>
      <p:sp>
        <p:nvSpPr>
          <p:cNvPr id="378" name="">
            <a:extLst xmlns:a="http://schemas.openxmlformats.org/drawingml/2006/main">
              <a:ext uri="{FF2B5EF4-FFF2-40B4-BE49-F238E27FC236}">
                <a16:creationId xmlns:a16="http://schemas.microsoft.com/office/drawing/2014/main" id="{F4AFE8FB-431A-4F3E-B39A-B1935A156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29000"/>
            <a:ext cx="2457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5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9" name="">
            <a:extLst xmlns:a="http://schemas.openxmlformats.org/drawingml/2006/main">
              <a:ext uri="{FF2B5EF4-FFF2-40B4-BE49-F238E27FC236}">
                <a16:creationId xmlns:a16="http://schemas.microsoft.com/office/drawing/2014/main" id="{94235ABF-9868-4241-B573-C7F7C66D5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76650"/>
            <a:ext cx="1352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TotalBsmtSF</a:t>
            </a:r>
          </a:p>
        </p:txBody>
      </p:sp>
      <p:sp>
        <p:nvSpPr>
          <p:cNvPr id="380" name="">
            <a:extLst xmlns:a="http://schemas.openxmlformats.org/drawingml/2006/main">
              <a:ext uri="{FF2B5EF4-FFF2-40B4-BE49-F238E27FC236}">
                <a16:creationId xmlns:a16="http://schemas.microsoft.com/office/drawing/2014/main" id="{006D3634-5C70-4C97-BB71-C46741756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648075"/>
            <a:ext cx="438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F7A63"/>
                </a:solidFill>
                <a:latin typeface="Baskerville"/>
                <a:ea typeface="Baskerville"/>
                <a:cs typeface="Baskerville"/>
              </a:defRPr>
            </a:pPr>
            <a:r>
              <a:rPr sz="1350" b="1">
                <a:solidFill>
                  <a:srgbClr val="1F7A63"/>
                </a:solidFill>
                <a:latin typeface="Baskerville"/>
                <a:ea typeface="Baskerville"/>
                <a:cs typeface="Baskerville"/>
              </a:rPr>
              <a:t>60</a:t>
            </a:r>
          </a:p>
        </p:txBody>
      </p:sp>
      <p:sp>
        <p:nvSpPr>
          <p:cNvPr id="381" name="">
            <a:extLst xmlns:a="http://schemas.openxmlformats.org/drawingml/2006/main">
              <a:ext uri="{FF2B5EF4-FFF2-40B4-BE49-F238E27FC236}">
                <a16:creationId xmlns:a16="http://schemas.microsoft.com/office/drawing/2014/main" id="{61029660-4B58-4AC9-947D-8ECE8411C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69570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706C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66706C"/>
                </a:solidFill>
                <a:latin typeface="Avenir Next"/>
                <a:ea typeface="Avenir Next"/>
                <a:cs typeface="Avenir Next"/>
              </a:rPr>
              <a:t>4.1%</a:t>
            </a:r>
          </a:p>
        </p:txBody>
      </p:sp>
      <p:sp>
        <p:nvSpPr>
          <p:cNvPr id="382" name="">
            <a:extLst xmlns:a="http://schemas.openxmlformats.org/drawingml/2006/main">
              <a:ext uri="{FF2B5EF4-FFF2-40B4-BE49-F238E27FC236}">
                <a16:creationId xmlns:a16="http://schemas.microsoft.com/office/drawing/2014/main" id="{81C158D2-7BDC-484A-8ADE-B3D41455B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81450"/>
            <a:ext cx="2457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5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3" name="">
            <a:extLst xmlns:a="http://schemas.openxmlformats.org/drawingml/2006/main">
              <a:ext uri="{FF2B5EF4-FFF2-40B4-BE49-F238E27FC236}">
                <a16:creationId xmlns:a16="http://schemas.microsoft.com/office/drawing/2014/main" id="{6917B0A0-AE52-496D-9A92-B256A4286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29100"/>
            <a:ext cx="1352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GrLivArea</a:t>
            </a:r>
          </a:p>
        </p:txBody>
      </p:sp>
      <p:sp>
        <p:nvSpPr>
          <p:cNvPr id="384" name="">
            <a:extLst xmlns:a="http://schemas.openxmlformats.org/drawingml/2006/main">
              <a:ext uri="{FF2B5EF4-FFF2-40B4-BE49-F238E27FC236}">
                <a16:creationId xmlns:a16="http://schemas.microsoft.com/office/drawing/2014/main" id="{DF398597-E6A6-468E-895C-82DF30E44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200525"/>
            <a:ext cx="438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F7A63"/>
                </a:solidFill>
                <a:latin typeface="Baskerville"/>
                <a:ea typeface="Baskerville"/>
                <a:cs typeface="Baskerville"/>
              </a:defRPr>
            </a:pPr>
            <a:r>
              <a:rPr sz="1350" b="1">
                <a:solidFill>
                  <a:srgbClr val="1F7A63"/>
                </a:solidFill>
                <a:latin typeface="Baskerville"/>
                <a:ea typeface="Baskerville"/>
                <a:cs typeface="Baskerville"/>
              </a:rPr>
              <a:t>31</a:t>
            </a:r>
          </a:p>
        </p:txBody>
      </p:sp>
      <p:sp>
        <p:nvSpPr>
          <p:cNvPr id="385" name="">
            <a:extLst xmlns:a="http://schemas.openxmlformats.org/drawingml/2006/main">
              <a:ext uri="{FF2B5EF4-FFF2-40B4-BE49-F238E27FC236}">
                <a16:creationId xmlns:a16="http://schemas.microsoft.com/office/drawing/2014/main" id="{1615F217-ACA2-49EC-B350-8B3FFE230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424815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706C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66706C"/>
                </a:solidFill>
                <a:latin typeface="Avenir Next"/>
                <a:ea typeface="Avenir Next"/>
                <a:cs typeface="Avenir Next"/>
              </a:rPr>
              <a:t>2.1%</a:t>
            </a:r>
          </a:p>
        </p:txBody>
      </p:sp>
      <p:sp>
        <p:nvSpPr>
          <p:cNvPr id="386" name="">
            <a:extLst xmlns:a="http://schemas.openxmlformats.org/drawingml/2006/main">
              <a:ext uri="{FF2B5EF4-FFF2-40B4-BE49-F238E27FC236}">
                <a16:creationId xmlns:a16="http://schemas.microsoft.com/office/drawing/2014/main" id="{570EB58A-797A-4B2F-88C4-ADD7A02C4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533900"/>
            <a:ext cx="2457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5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7" name="">
            <a:extLst xmlns:a="http://schemas.openxmlformats.org/drawingml/2006/main">
              <a:ext uri="{FF2B5EF4-FFF2-40B4-BE49-F238E27FC236}">
                <a16:creationId xmlns:a16="http://schemas.microsoft.com/office/drawing/2014/main" id="{FDC36024-539E-4B48-90E9-FD4DEA6D2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81550"/>
            <a:ext cx="1352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GarageArea</a:t>
            </a:r>
          </a:p>
        </p:txBody>
      </p:sp>
      <p:sp>
        <p:nvSpPr>
          <p:cNvPr id="388" name="">
            <a:extLst xmlns:a="http://schemas.openxmlformats.org/drawingml/2006/main">
              <a:ext uri="{FF2B5EF4-FFF2-40B4-BE49-F238E27FC236}">
                <a16:creationId xmlns:a16="http://schemas.microsoft.com/office/drawing/2014/main" id="{616E40EE-0B0F-4764-ACDB-62ED06A0E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752975"/>
            <a:ext cx="438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F7A63"/>
                </a:solidFill>
                <a:latin typeface="Baskerville"/>
                <a:ea typeface="Baskerville"/>
                <a:cs typeface="Baskerville"/>
              </a:defRPr>
            </a:pPr>
            <a:r>
              <a:rPr sz="1350" b="1">
                <a:solidFill>
                  <a:srgbClr val="1F7A63"/>
                </a:solidFill>
                <a:latin typeface="Baskerville"/>
                <a:ea typeface="Baskerville"/>
                <a:cs typeface="Baskerville"/>
              </a:rPr>
              <a:t>20</a:t>
            </a:r>
          </a:p>
        </p:txBody>
      </p:sp>
      <p:sp>
        <p:nvSpPr>
          <p:cNvPr id="389" name="">
            <a:extLst xmlns:a="http://schemas.openxmlformats.org/drawingml/2006/main">
              <a:ext uri="{FF2B5EF4-FFF2-40B4-BE49-F238E27FC236}">
                <a16:creationId xmlns:a16="http://schemas.microsoft.com/office/drawing/2014/main" id="{820BEC5D-3740-4526-B7A9-F2A8DBD8D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480060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706C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66706C"/>
                </a:solidFill>
                <a:latin typeface="Avenir Next"/>
                <a:ea typeface="Avenir Next"/>
                <a:cs typeface="Avenir Next"/>
              </a:rPr>
              <a:t>1.4%</a:t>
            </a:r>
          </a:p>
        </p:txBody>
      </p:sp>
      <p:sp>
        <p:nvSpPr>
          <p:cNvPr id="390" name="">
            <a:extLst xmlns:a="http://schemas.openxmlformats.org/drawingml/2006/main">
              <a:ext uri="{FF2B5EF4-FFF2-40B4-BE49-F238E27FC236}">
                <a16:creationId xmlns:a16="http://schemas.microsoft.com/office/drawing/2014/main" id="{48416013-8ABF-4B92-B99A-3AAF39FEC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086350"/>
            <a:ext cx="2457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5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1" name="">
            <a:extLst xmlns:a="http://schemas.openxmlformats.org/drawingml/2006/main">
              <a:ext uri="{FF2B5EF4-FFF2-40B4-BE49-F238E27FC236}">
                <a16:creationId xmlns:a16="http://schemas.microsoft.com/office/drawing/2014/main" id="{25B7BB88-7A05-4B3A-839F-58979E5C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467350"/>
            <a:ext cx="2686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2" name="">
            <a:extLst xmlns:a="http://schemas.openxmlformats.org/drawingml/2006/main">
              <a:ext uri="{FF2B5EF4-FFF2-40B4-BE49-F238E27FC236}">
                <a16:creationId xmlns:a16="http://schemas.microsoft.com/office/drawing/2014/main" id="{712FF765-CFDF-4EE2-AF15-E7867D55A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591175"/>
            <a:ext cx="895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E6C15A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E6C15A"/>
                </a:solidFill>
                <a:latin typeface="Avenir Next"/>
                <a:ea typeface="Avenir Next"/>
                <a:cs typeface="Avenir Next"/>
              </a:rPr>
              <a:t>Sunum cümlesi</a:t>
            </a:r>
          </a:p>
        </p:txBody>
      </p:sp>
      <p:sp>
        <p:nvSpPr>
          <p:cNvPr id="393" name="">
            <a:extLst xmlns:a="http://schemas.openxmlformats.org/drawingml/2006/main">
              <a:ext uri="{FF2B5EF4-FFF2-40B4-BE49-F238E27FC236}">
                <a16:creationId xmlns:a16="http://schemas.microsoft.com/office/drawing/2014/main" id="{BC0EACF9-2377-48F1-9EED-CDE9857A0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5581650"/>
            <a:ext cx="1409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FAFAF7"/>
                </a:solidFill>
                <a:latin typeface="Baskerville"/>
                <a:ea typeface="Baskerville"/>
                <a:cs typeface="Baskerville"/>
              </a:defRPr>
            </a:pPr>
            <a:r>
              <a:rPr sz="788" b="1">
                <a:solidFill>
                  <a:srgbClr val="FAFAF7"/>
                </a:solidFill>
                <a:latin typeface="Baskerville"/>
                <a:ea typeface="Baskerville"/>
                <a:cs typeface="Baskerville"/>
              </a:rPr>
              <a:t>Bayrak ≠ silme kararı</a:t>
            </a:r>
          </a:p>
        </p:txBody>
      </p:sp>
    </p:spTree>
    <p:extLst>
      <p:ext uri="{BB962C8B-B14F-4D97-AF65-F5344CB8AC3E}">
        <p14:creationId xmlns:p14="http://schemas.microsoft.com/office/powerpoint/2010/main" val="185020165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3152E5A1-3010-4CAC-88C3-937CDD2E1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7-marker">
            <a:extLst xmlns:a="http://schemas.openxmlformats.org/drawingml/2006/main">
              <a:ext uri="{FF2B5EF4-FFF2-40B4-BE49-F238E27FC236}">
                <a16:creationId xmlns:a16="http://schemas.microsoft.com/office/drawing/2014/main" id="{7DD5ABC9-BA5B-49EB-A0D2-B2D91C20B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7-label">
            <a:extLst xmlns:a="http://schemas.openxmlformats.org/drawingml/2006/main">
              <a:ext uri="{FF2B5EF4-FFF2-40B4-BE49-F238E27FC236}">
                <a16:creationId xmlns:a16="http://schemas.microsoft.com/office/drawing/2014/main" id="{53C6B491-FAC3-4B7B-954E-781EBC286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06C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6706C"/>
                </a:solidFill>
                <a:latin typeface="Avenir Next"/>
                <a:ea typeface="Avenir Next"/>
                <a:cs typeface="Avenir Next"/>
              </a:rPr>
              <a:t>K O R E L A S Y O N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26E72688-2263-49B0-B315-E621240C6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90575"/>
            <a:ext cx="9620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2022"/>
                </a:solidFill>
                <a:latin typeface="Baskerville"/>
                <a:ea typeface="Baskerville"/>
                <a:cs typeface="Baskerville"/>
              </a:defRPr>
            </a:pPr>
            <a:r>
              <a:rPr sz="2700" b="1">
                <a:solidFill>
                  <a:srgbClr val="152022"/>
                </a:solidFill>
                <a:latin typeface="Baskerville"/>
                <a:ea typeface="Baskerville"/>
                <a:cs typeface="Baskerville"/>
              </a:rPr>
              <a:t>Fiyatı en çok kalite ve kullanılabilir alan açıklıyor.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5500EF9-DDBD-41EB-A3D1-751CF216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5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3C6E5682-3A05-4362-BAA2-AF550AFF1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9906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0" b="0">
                <a:solidFill>
                  <a:srgbClr val="66706C"/>
                </a:solidFill>
                <a:latin typeface="Avenir Next"/>
                <a:ea typeface="Avenir Next"/>
                <a:cs typeface="Avenir Next"/>
              </a:defRPr>
            </a:pPr>
            <a:r>
              <a:rPr sz="570" b="0">
                <a:solidFill>
                  <a:srgbClr val="66706C"/>
                </a:solidFill>
                <a:latin typeface="Avenir Next"/>
                <a:ea typeface="Avenir Next"/>
                <a:cs typeface="Avenir Next"/>
              </a:rPr>
              <a:t>Kaynak: selected_features.csv · Pearson korelasyonu</a:t>
            </a:r>
          </a:p>
        </p:txBody>
      </p:sp>
      <p:sp>
        <p:nvSpPr>
          <p:cNvPr id="7" name="page-marker">
            <a:extLst xmlns:a="http://schemas.openxmlformats.org/drawingml/2006/main">
              <a:ext uri="{FF2B5EF4-FFF2-40B4-BE49-F238E27FC236}">
                <a16:creationId xmlns:a16="http://schemas.microsoft.com/office/drawing/2014/main" id="{B616FF31-0EDA-4ABC-9E48-CBEA8D9E2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510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66706C"/>
                </a:solidFill>
                <a:latin typeface="Baskerville"/>
                <a:ea typeface="Baskerville"/>
                <a:cs typeface="Baskerville"/>
              </a:defRPr>
            </a:pPr>
            <a:r>
              <a:rPr sz="788" b="1">
                <a:solidFill>
                  <a:srgbClr val="66706C"/>
                </a:solidFill>
                <a:latin typeface="Baskerville"/>
                <a:ea typeface="Baskerville"/>
                <a:cs typeface="Baskerville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852C28-49C7-40E1-8F78-3F06E55D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574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OverallQual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80B5B6-DD31-436D-8AF0-E5ACBA1BD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085975"/>
            <a:ext cx="6191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BC8318-235C-44A6-BD2C-AF581A09E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085975"/>
            <a:ext cx="6191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FBB786-87FD-496B-8D9E-2521ABAD3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047875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F7A63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1F7A63"/>
                </a:solidFill>
                <a:latin typeface="Avenir Next"/>
                <a:ea typeface="Avenir Next"/>
                <a:cs typeface="Avenir Next"/>
              </a:rPr>
              <a:t>0.79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C0DB26-FA9F-4A3A-8D34-98EF5A794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GrLivArea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274502-F202-4949-98EE-47A5FA21C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457450"/>
            <a:ext cx="6191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31CF32-88A0-4241-87CB-3B2377DE5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457450"/>
            <a:ext cx="5564263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EAEBF7-B7ED-4599-AEF4-C8FD292EF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41935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F7A63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1F7A63"/>
                </a:solidFill>
                <a:latin typeface="Avenir Next"/>
                <a:ea typeface="Avenir Next"/>
                <a:cs typeface="Avenir Next"/>
              </a:rPr>
              <a:t>0.71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07ACEB-EFAE-4001-B109-8B8500516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03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GarageCars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037D37-44B0-468E-9E57-01800D46A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828925"/>
            <a:ext cx="6191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B314F7-CD39-4334-B935-CC383835C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828925"/>
            <a:ext cx="5013192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6E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A2C8EB-E8A3-4E06-89EF-44EFE9506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790825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0.64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63C646-9CC3-404D-850D-2440B1A6D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7182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GarageArea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599CC9-869B-4E73-910C-117A8D82B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200400"/>
            <a:ext cx="6191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B0DCE3-871F-428D-820D-180090EEA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200400"/>
            <a:ext cx="487789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6E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4195CB-2602-47B7-9C41-DF153F2C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1623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0.62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5260D7-DDA9-40E4-A55B-30C1D7681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TotalBsmtSF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50854B-B97D-4D5A-B5A5-4810D2336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571875"/>
            <a:ext cx="6191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796F1F-61F9-46F9-800E-1EF195A63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571875"/>
            <a:ext cx="48059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6E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AC54ED-7B72-4EB4-ABAB-9B0787571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533775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0.61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83DE96-7E82-4977-9571-1A5C2281E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1477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1stFlrSF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608545-39C6-44B7-9FA3-97C99C35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43350"/>
            <a:ext cx="6191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9B719B-0DAB-4E1C-AC41-228FF7F47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43350"/>
            <a:ext cx="475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6E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CB6149-99F8-4B60-8CEA-17123F27F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90525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0.61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D9E7742-6797-40D0-930C-9E1B405E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FullBath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C0353EA-AECE-43D3-8112-B6B3FFEE8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314825"/>
            <a:ext cx="6191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692B188-444B-40AD-8E88-155699EB8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314825"/>
            <a:ext cx="4409497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6E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8B2BFE6-B4C6-4E46-BB6A-4F9C2DEE7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276725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0.56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93B6B44-DA14-4290-8548-468D975DF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5772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TotRmsAbvGrd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CB9483C-70FB-45E8-A952-50FEC9EF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686300"/>
            <a:ext cx="6191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2DE63B1-242E-4AB4-808C-954E275A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686300"/>
            <a:ext cx="4203063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6E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743E60E-10C8-4FB4-A603-796EC9005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6482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0.54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5AA0712-48E3-4E50-A9B0-23A23BEF0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292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YearBuilt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9269984-617D-47E6-A843-156D63965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057775"/>
            <a:ext cx="6191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7F35E45-5E42-41F0-AEC0-2A195F59B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057775"/>
            <a:ext cx="4100469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6E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E3335B8-502D-4914-9F9A-26C28B677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019675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0.52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3B06FDC-6088-411B-8FAA-8BB25486A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0067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YearRemodAdd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2F09A91-C140-4EFC-AC98-16E2D1244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29250"/>
            <a:ext cx="6191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EA6DD46-6B4A-4FFD-9978-E3B606D27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29250"/>
            <a:ext cx="3976769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6E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8065A98-F561-45CE-BADD-5AE3E68BF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39115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0.51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B0B53BF-BAE8-436E-8769-3F699EE06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143125"/>
            <a:ext cx="95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4611D36-076B-4223-BC7B-12918A871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1336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87941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D87941"/>
                </a:solidFill>
                <a:latin typeface="Avenir Next"/>
                <a:ea typeface="Avenir Next"/>
                <a:cs typeface="Avenir Next"/>
              </a:rPr>
              <a:t>Yorum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4EA460C-24CB-44D8-93B9-2BEEB6F6E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514600"/>
            <a:ext cx="1562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2022"/>
                </a:solidFill>
                <a:latin typeface="Baskerville"/>
                <a:ea typeface="Baskerville"/>
                <a:cs typeface="Baskerville"/>
              </a:defRPr>
            </a:pPr>
            <a:r>
              <a:rPr sz="1500" b="1">
                <a:solidFill>
                  <a:srgbClr val="152022"/>
                </a:solidFill>
                <a:latin typeface="Baskerville"/>
                <a:ea typeface="Baskerville"/>
                <a:cs typeface="Baskerville"/>
              </a:rPr>
              <a:t>OverallQual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2A43F8A-3C39-4550-AF55-689415015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57500"/>
            <a:ext cx="1562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6C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66706C"/>
                </a:solidFill>
                <a:latin typeface="Avenir Next"/>
                <a:ea typeface="Avenir Next"/>
                <a:cs typeface="Avenir Next"/>
              </a:rPr>
              <a:t>Tek bir kalite skoru; malzeme, işçilik ve genel algıyı birlikte taşıyor.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7FBEC37-7C7D-4D61-9B37-8B044AFE7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943350"/>
            <a:ext cx="1562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2022"/>
                </a:solidFill>
                <a:latin typeface="Baskerville"/>
                <a:ea typeface="Baskerville"/>
                <a:cs typeface="Baskerville"/>
              </a:defRPr>
            </a:pPr>
            <a:r>
              <a:rPr sz="1500" b="1">
                <a:solidFill>
                  <a:srgbClr val="152022"/>
                </a:solidFill>
                <a:latin typeface="Baskerville"/>
                <a:ea typeface="Baskerville"/>
                <a:cs typeface="Baskerville"/>
              </a:rPr>
              <a:t>GrLivArea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78721A8-95DC-4B83-B10A-56D9BAAF2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286250"/>
            <a:ext cx="1562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6C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66706C"/>
                </a:solidFill>
                <a:latin typeface="Avenir Next"/>
                <a:ea typeface="Avenir Next"/>
                <a:cs typeface="Avenir Next"/>
              </a:rPr>
              <a:t>Yaşanabilir alan fiyatı artırıyor; fakat uç değerlerde ilişki kırılabiliyor.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384A906-F01E-421D-99CC-77D5661F5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257800"/>
            <a:ext cx="1562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B94F4F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B94F4F"/>
                </a:solidFill>
                <a:latin typeface="Avenir Next"/>
                <a:ea typeface="Avenir Next"/>
                <a:cs typeface="Avenir Next"/>
              </a:rPr>
              <a:t>Korelasyon nedensellik değildir; seçim, domain bilgisi ve out-of-sample performansla birlikte yapılır.</a:t>
            </a:r>
          </a:p>
        </p:txBody>
      </p:sp>
    </p:spTree>
    <p:extLst>
      <p:ext uri="{BB962C8B-B14F-4D97-AF65-F5344CB8AC3E}">
        <p14:creationId xmlns:p14="http://schemas.microsoft.com/office/powerpoint/2010/main" val="116977744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CE82312E-9450-4DB4-85C4-8E645F386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8-marker">
            <a:extLst xmlns:a="http://schemas.openxmlformats.org/drawingml/2006/main">
              <a:ext uri="{FF2B5EF4-FFF2-40B4-BE49-F238E27FC236}">
                <a16:creationId xmlns:a16="http://schemas.microsoft.com/office/drawing/2014/main" id="{B85BBC07-8AE2-4ADB-B68D-6FA6D1AA6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8-label">
            <a:extLst xmlns:a="http://schemas.openxmlformats.org/drawingml/2006/main">
              <a:ext uri="{FF2B5EF4-FFF2-40B4-BE49-F238E27FC236}">
                <a16:creationId xmlns:a16="http://schemas.microsoft.com/office/drawing/2014/main" id="{69E2CF4C-662B-43A5-80EC-46D9ED58A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06C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6706C"/>
                </a:solidFill>
                <a:latin typeface="Avenir Next"/>
                <a:ea typeface="Avenir Next"/>
                <a:cs typeface="Avenir Next"/>
              </a:rPr>
              <a:t>F E A T U R E   S E Ç I M I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3A0CAAF5-598C-4B11-8658-BD076CA42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90575"/>
            <a:ext cx="9620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2022"/>
                </a:solidFill>
                <a:latin typeface="Baskerville"/>
                <a:ea typeface="Baskerville"/>
                <a:cs typeface="Baskerville"/>
              </a:defRPr>
            </a:pPr>
            <a:r>
              <a:rPr sz="2700" b="1">
                <a:solidFill>
                  <a:srgbClr val="152022"/>
                </a:solidFill>
                <a:latin typeface="Baskerville"/>
                <a:ea typeface="Baskerville"/>
                <a:cs typeface="Baskerville"/>
              </a:rPr>
              <a:t>Güçlü feature’lar aynı bilgiyi tekrar ediyor; çoklu bağlantı kontrol edilmeli.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83701F6-857C-404E-9699-62E7E08B5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5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016CE003-D2F6-45A2-BCF4-C296F20D1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9906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0" b="0">
                <a:solidFill>
                  <a:srgbClr val="66706C"/>
                </a:solidFill>
                <a:latin typeface="Avenir Next"/>
                <a:ea typeface="Avenir Next"/>
                <a:cs typeface="Avenir Next"/>
              </a:defRPr>
            </a:pPr>
            <a:r>
              <a:rPr sz="570" b="0">
                <a:solidFill>
                  <a:srgbClr val="66706C"/>
                </a:solidFill>
                <a:latin typeface="Avenir Next"/>
                <a:ea typeface="Avenir Next"/>
                <a:cs typeface="Avenir Next"/>
              </a:rPr>
              <a:t>Kaynak: selected_features.csv · numeric correlation matrix</a:t>
            </a:r>
          </a:p>
        </p:txBody>
      </p:sp>
      <p:sp>
        <p:nvSpPr>
          <p:cNvPr id="7" name="page-marker">
            <a:extLst xmlns:a="http://schemas.openxmlformats.org/drawingml/2006/main">
              <a:ext uri="{FF2B5EF4-FFF2-40B4-BE49-F238E27FC236}">
                <a16:creationId xmlns:a16="http://schemas.microsoft.com/office/drawing/2014/main" id="{135BA78B-BE62-4714-9F66-8515B0298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510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66706C"/>
                </a:solidFill>
                <a:latin typeface="Baskerville"/>
                <a:ea typeface="Baskerville"/>
                <a:cs typeface="Baskerville"/>
              </a:defRPr>
            </a:pPr>
            <a:r>
              <a:rPr sz="788" b="1">
                <a:solidFill>
                  <a:srgbClr val="66706C"/>
                </a:solidFill>
                <a:latin typeface="Baskerville"/>
                <a:ea typeface="Baskerville"/>
                <a:cs typeface="Baskerville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51AE1B-B955-455E-B744-59658CCF5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193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En güçlü feature-feature çiftleri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8678FA-7750-4248-9D06-924D14C1A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193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GarageCars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4FD81D-8853-4902-8D05-B295CB6AE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505075"/>
            <a:ext cx="1809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A61D1F-ACA7-4754-BFFE-CFCF4EA51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43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E497F6-464C-4AB2-9FC6-9B44D49D8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2887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FAFAF7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FAFAF7"/>
                </a:solidFill>
                <a:latin typeface="Avenir Next"/>
                <a:ea typeface="Avenir Next"/>
                <a:cs typeface="Avenir Next"/>
              </a:rPr>
              <a:t>0.88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B0E475-85FD-4549-AA33-2BEE3737B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05075"/>
            <a:ext cx="1809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A03D4B-0305-4E24-85E4-EA95AE903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193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GarageArea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E6A36F-4CD5-45B6-8C03-89075B51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GrLivArea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0C1856-D376-4510-904F-FC4A61061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962275"/>
            <a:ext cx="1809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48040C-1666-4927-8E77-CC80B4256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00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CC977A-E7F4-4819-B2DC-17F870D96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8607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FAFAF7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FAFAF7"/>
                </a:solidFill>
                <a:latin typeface="Avenir Next"/>
                <a:ea typeface="Avenir Next"/>
                <a:cs typeface="Avenir Next"/>
              </a:rPr>
              <a:t>0.83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D38CAA-FA23-4870-8B8B-3E1A7F32A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962275"/>
            <a:ext cx="1809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8CB6CD-A5A0-4DF1-826C-DD83F7D15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765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TotRmsAbvGrd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0EDFC6-EF0E-4C63-80F9-63BF2ED6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TotalBsmtSF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09DDE5-1F8F-4D09-8489-097D6E1BE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419475"/>
            <a:ext cx="1809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273339-0E64-4AFA-8A2B-462968FF7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57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EAC827-69C0-40E4-88E9-3134C42C9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4327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FAFAF7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FAFAF7"/>
                </a:solidFill>
                <a:latin typeface="Avenir Next"/>
                <a:ea typeface="Avenir Next"/>
                <a:cs typeface="Avenir Next"/>
              </a:rPr>
              <a:t>0.82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55F399-A4AD-4041-8BF8-E8565AA4F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419475"/>
            <a:ext cx="1809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52E91B-CB21-4B26-B8CB-B727C3DE8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3337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1stFlrSF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9F86F2-EE86-48AE-9E70-7A44F7D75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909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GrLivArea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5C6836-E7DD-489D-9BBE-AE8DC9EE0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876675"/>
            <a:ext cx="180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5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565DB3-421E-486A-9F8D-F13763E83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14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6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801A2E-0E4F-4A91-9A55-ED5670ABB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0047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1F7A63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1F7A63"/>
                </a:solidFill>
                <a:latin typeface="Avenir Next"/>
                <a:ea typeface="Avenir Next"/>
                <a:cs typeface="Avenir Next"/>
              </a:rPr>
              <a:t>0.69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72D8C99-8861-4B20-AB37-F06613CC7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876675"/>
            <a:ext cx="180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5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4DBA68E-1D21-41D6-86EB-81FBD7781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7909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2ndFlrSF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568D85C-289F-4D63-A66F-8BB734D76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481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GrLivArea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551186-0FFA-472B-AFC5-DBEA381BE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333875"/>
            <a:ext cx="180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5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4FAC2A0-66F6-436A-829F-FC6EAE938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71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6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DC93B25-12C9-4E50-B21B-73D96E54A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5767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1F7A63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1F7A63"/>
                </a:solidFill>
                <a:latin typeface="Avenir Next"/>
                <a:ea typeface="Avenir Next"/>
                <a:cs typeface="Avenir Next"/>
              </a:rPr>
              <a:t>0.63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9895114-1298-4D7C-9109-EA2401CE3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333875"/>
            <a:ext cx="180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5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215D430-5491-4547-B44B-3C733A67D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2481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FullBath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70B8C2E-7AE9-47C0-A6FD-24B6304EA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053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2ndFlrSF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80FB601-204E-4A44-BDD7-F88360101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791075"/>
            <a:ext cx="180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5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C496162-926D-4DF3-9ADF-938444BC9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29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6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D3ED357-3BF6-49C3-B706-E03FC807B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71487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1F7A63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1F7A63"/>
                </a:solidFill>
                <a:latin typeface="Avenir Next"/>
                <a:ea typeface="Avenir Next"/>
                <a:cs typeface="Avenir Next"/>
              </a:rPr>
              <a:t>0.62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CB903CF-4167-4FF0-AC8D-842620ACE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91075"/>
            <a:ext cx="180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5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9A774B4-3312-4690-A481-A68F9B9B6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7053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TotRmsAbvGrd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907EFF5-B40E-4648-B7A2-F5F48E91E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95500"/>
            <a:ext cx="27241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DCF1944-C302-4909-B538-1BF081A4B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34315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AFAF7"/>
                </a:solidFill>
                <a:latin typeface="Baskerville"/>
                <a:ea typeface="Baskerville"/>
                <a:cs typeface="Baskerville"/>
              </a:defRPr>
            </a:pPr>
            <a:r>
              <a:rPr sz="1575" b="1">
                <a:solidFill>
                  <a:srgbClr val="FAFAF7"/>
                </a:solidFill>
                <a:latin typeface="Baskerville"/>
                <a:ea typeface="Baskerville"/>
                <a:cs typeface="Baskerville"/>
              </a:rPr>
              <a:t>30 FEATURE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2C662CF-38CE-48FB-9F20-16AC08B2F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743200"/>
            <a:ext cx="2019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AEBAB7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AEBAB7"/>
                </a:solidFill>
                <a:latin typeface="Avenir Next"/>
                <a:ea typeface="Avenir Next"/>
                <a:cs typeface="Avenir Next"/>
              </a:rPr>
              <a:t>İlişkili ama farklı domain sorularını kapsayan kontrollü alt küme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5A9A155-8F89-4A14-A8D1-C4DD320A2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514725"/>
            <a:ext cx="1143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3FEC0E3-5D31-43F3-9B6E-C57D8EC7A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486150"/>
            <a:ext cx="685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Alan &amp; oda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A2BD8D1-DD1D-4366-A308-D5A328436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86150"/>
            <a:ext cx="228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FAFAF7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FAFAF7"/>
                </a:solidFill>
                <a:latin typeface="Avenir Next"/>
                <a:ea typeface="Avenir Next"/>
                <a:cs typeface="Avenir Next"/>
              </a:rPr>
              <a:t>12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EEA4C5C-B46E-40CC-87A2-738AAA58F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800475"/>
            <a:ext cx="666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1818E66-7A9B-412C-A063-490FE1348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771900"/>
            <a:ext cx="685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Kalite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7A54504-8F57-45A4-8392-81FF52E91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771900"/>
            <a:ext cx="228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FAFAF7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FAFAF7"/>
                </a:solidFill>
                <a:latin typeface="Avenir Next"/>
                <a:ea typeface="Avenir Next"/>
                <a:cs typeface="Avenir Next"/>
              </a:rPr>
              <a:t>7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CAC1B6D-C825-4D5E-8B60-1470459EE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086225"/>
            <a:ext cx="381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6E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B59728E-4258-40F5-A910-CA664A5BD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057650"/>
            <a:ext cx="685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Garaj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39BEE31-82A7-4874-965F-9E30D63D5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57650"/>
            <a:ext cx="228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FAFAF7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FAFAF7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E7B9715-711D-42CE-8A72-380B2BAD0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371975"/>
            <a:ext cx="381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C1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3701F69-CC0D-4AAF-A8F1-728C347CD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343400"/>
            <a:ext cx="685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Konum / tip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85B3097-D0E0-4052-9D8F-C5E77C052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343400"/>
            <a:ext cx="228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FAFAF7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FAFAF7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9CADD49-F8BE-471F-A57F-77EF2971E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657725"/>
            <a:ext cx="285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9A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E1A8678-E9B3-4E9D-BEC4-DEA1A2116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629150"/>
            <a:ext cx="685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Yaş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FEFF299-6406-4750-A6FE-8737B6587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629150"/>
            <a:ext cx="228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FAFAF7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FAFAF7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A60E21E-D672-4271-B0CA-B95827055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0"/>
            <a:ext cx="10706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FD03162-B6A8-487D-A159-DEA8D04E4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10225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F7A63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1F7A63"/>
                </a:solidFill>
                <a:latin typeface="Avenir Next"/>
                <a:ea typeface="Avenir Next"/>
                <a:cs typeface="Avenir Next"/>
              </a:rPr>
              <a:t>Seçim ilkesi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F302D82-6158-4B0F-A233-F15D19EBA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572125"/>
            <a:ext cx="876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938" b="1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İki feature aynı bilgiyi taşıyorsa: kararlılık, açıklanabilirlik ve pipeline maliyeti daha iyi olanı tercih et.</a:t>
            </a:r>
          </a:p>
        </p:txBody>
      </p:sp>
    </p:spTree>
    <p:extLst>
      <p:ext uri="{BB962C8B-B14F-4D97-AF65-F5344CB8AC3E}">
        <p14:creationId xmlns:p14="http://schemas.microsoft.com/office/powerpoint/2010/main" val="35042444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6FADC1AE-E38F-4C23-9B89-9897DA4C4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9-marker">
            <a:extLst xmlns:a="http://schemas.openxmlformats.org/drawingml/2006/main">
              <a:ext uri="{FF2B5EF4-FFF2-40B4-BE49-F238E27FC236}">
                <a16:creationId xmlns:a16="http://schemas.microsoft.com/office/drawing/2014/main" id="{FDDF40EC-AC71-4C39-BA52-DCD7E817A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9-label">
            <a:extLst xmlns:a="http://schemas.openxmlformats.org/drawingml/2006/main">
              <a:ext uri="{FF2B5EF4-FFF2-40B4-BE49-F238E27FC236}">
                <a16:creationId xmlns:a16="http://schemas.microsoft.com/office/drawing/2014/main" id="{A7E36818-4F01-42C5-A7FD-A026123BB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06C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6706C"/>
                </a:solidFill>
                <a:latin typeface="Avenir Next"/>
                <a:ea typeface="Avenir Next"/>
                <a:cs typeface="Avenir Next"/>
              </a:rPr>
              <a:t>K A T E G O R I K   E T K I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84AD9150-C33F-4798-A5F9-63CC83A16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90575"/>
            <a:ext cx="9620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2022"/>
                </a:solidFill>
                <a:latin typeface="Baskerville"/>
                <a:ea typeface="Baskerville"/>
                <a:cs typeface="Baskerville"/>
              </a:defRPr>
            </a:pPr>
            <a:r>
              <a:rPr sz="2700" b="1">
                <a:solidFill>
                  <a:srgbClr val="152022"/>
                </a:solidFill>
                <a:latin typeface="Baskerville"/>
                <a:ea typeface="Baskerville"/>
                <a:cs typeface="Baskerville"/>
              </a:rPr>
              <a:t>Konum ve kalite, aynı metrekarenin piyasa değerini katlıyor.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37CD942-77B7-468D-B2C0-45AB98C27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5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0068D922-960D-4EA1-ABF6-DE332405A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9906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0" b="0">
                <a:solidFill>
                  <a:srgbClr val="66706C"/>
                </a:solidFill>
                <a:latin typeface="Avenir Next"/>
                <a:ea typeface="Avenir Next"/>
                <a:cs typeface="Avenir Next"/>
              </a:defRPr>
            </a:pPr>
            <a:r>
              <a:rPr sz="570" b="0">
                <a:solidFill>
                  <a:srgbClr val="66706C"/>
                </a:solidFill>
                <a:latin typeface="Avenir Next"/>
                <a:ea typeface="Avenir Next"/>
                <a:cs typeface="Avenir Next"/>
              </a:rPr>
              <a:t>Kaynak: selected_features.csv · grup medyanları</a:t>
            </a:r>
          </a:p>
        </p:txBody>
      </p:sp>
      <p:sp>
        <p:nvSpPr>
          <p:cNvPr id="7" name="page-marker">
            <a:extLst xmlns:a="http://schemas.openxmlformats.org/drawingml/2006/main">
              <a:ext uri="{FF2B5EF4-FFF2-40B4-BE49-F238E27FC236}">
                <a16:creationId xmlns:a16="http://schemas.microsoft.com/office/drawing/2014/main" id="{2B599A94-B21F-4EB5-86F8-4184A04FC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510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66706C"/>
                </a:solidFill>
                <a:latin typeface="Baskerville"/>
                <a:ea typeface="Baskerville"/>
                <a:cs typeface="Baskerville"/>
              </a:defRPr>
            </a:pPr>
            <a:r>
              <a:rPr sz="788" b="1">
                <a:solidFill>
                  <a:srgbClr val="66706C"/>
                </a:solidFill>
                <a:latin typeface="Baskerville"/>
                <a:ea typeface="Baskerville"/>
                <a:cs typeface="Baskerville"/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D48F41-F771-4FC3-8D4E-F48289A6B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62150"/>
            <a:ext cx="428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Mahalle medyan satış fiyatı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557F3D-437E-4886-A8AE-B9AE7C1F3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43150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NridgHt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07807A-422C-43EB-B28F-AE72873D4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371725"/>
            <a:ext cx="4000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166C68-B7BF-4D70-91F5-11B8D8B2C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371725"/>
            <a:ext cx="4000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2CA55E-3EBD-4EDB-B4C0-85DE663F7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324100"/>
            <a:ext cx="628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$315K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71718E-B5B8-4509-9499-6659F8AE0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33625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6706C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66706C"/>
                </a:solidFill>
                <a:latin typeface="Avenir Next"/>
                <a:ea typeface="Avenir Next"/>
                <a:cs typeface="Avenir Next"/>
              </a:rPr>
              <a:t>n=76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A665D9-8DD0-4ED1-A42B-03D568576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57475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NoRidge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C725E5-B905-4B88-BC87-0258FB989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686050"/>
            <a:ext cx="4000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B4C25B-370D-4433-8762-B81A126BD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686050"/>
            <a:ext cx="3830187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1AD61E-3D81-4B8F-ADB1-DBF648E70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38425"/>
            <a:ext cx="628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$302K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DF1E6D-23F6-4044-A97D-06CFB513D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479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6706C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66706C"/>
                </a:solidFill>
                <a:latin typeface="Avenir Next"/>
                <a:ea typeface="Avenir Next"/>
                <a:cs typeface="Avenir Next"/>
              </a:rPr>
              <a:t>n=41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578C86-DF77-49BC-868E-46BDDDC03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71800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StoneBr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049BB5-D15E-45E7-B6A2-6111DA73E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000375"/>
            <a:ext cx="4000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FB25BC-5928-4479-A047-42AF3F323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000375"/>
            <a:ext cx="3531648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D227D5-0403-4363-9DBA-9EB446ECA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52750"/>
            <a:ext cx="628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$278K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889680-6072-4A86-B5F2-9F92595F1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62275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6706C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66706C"/>
                </a:solidFill>
                <a:latin typeface="Avenir Next"/>
                <a:ea typeface="Avenir Next"/>
                <a:cs typeface="Avenir Next"/>
              </a:rPr>
              <a:t>n=25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BB7FDE-B23F-4A1E-9D73-E077F48A8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86125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Timber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3B8B58-82FE-4304-8FEF-2824F3739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314700"/>
            <a:ext cx="4000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DCA974-9AE0-4CFD-A570-DCACCCDFE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314700"/>
            <a:ext cx="2908528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8074BD-EACF-4186-AA3B-073EC2C84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267075"/>
            <a:ext cx="628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$229K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3C48F7-241A-41E5-951A-1D1478D99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7660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6706C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66706C"/>
                </a:solidFill>
                <a:latin typeface="Avenir Next"/>
                <a:ea typeface="Avenir Next"/>
                <a:cs typeface="Avenir Next"/>
              </a:rPr>
              <a:t>n=37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C3A025-C34D-412C-B6E5-B10AA33F1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00450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Somerst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D8F320-00C3-4B18-B496-660ABA023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629025"/>
            <a:ext cx="4000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7D9899-76B3-41AC-88D5-427ED99F3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629025"/>
            <a:ext cx="287994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10F03F4-3DC2-4CF9-95AB-318BD8956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81400"/>
            <a:ext cx="628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$227K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A9C5EE3-3E68-45F4-9F93-96FD2DD3A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590925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6706C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66706C"/>
                </a:solidFill>
                <a:latin typeface="Avenir Next"/>
                <a:ea typeface="Avenir Next"/>
                <a:cs typeface="Avenir Next"/>
              </a:rPr>
              <a:t>n=83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94B6978-2E68-4A8E-81E9-BB5F0A23B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67150"/>
            <a:ext cx="6591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5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24CA263-766E-4D46-AB4B-2C612CDBE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14775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MeadowV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4108711-7F51-4D3B-9C6E-28522FDB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943350"/>
            <a:ext cx="4000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6B66CAF-AE5F-490A-8E02-33DC71DF2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943350"/>
            <a:ext cx="1117932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F98726-8EFF-4FFB-9955-FBD7E920E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895725"/>
            <a:ext cx="628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$88K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A091C7D-40CF-4416-BA76-29149127C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905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6706C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66706C"/>
                </a:solidFill>
                <a:latin typeface="Avenir Next"/>
                <a:ea typeface="Avenir Next"/>
                <a:cs typeface="Avenir Next"/>
              </a:rPr>
              <a:t>n=17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CBC5E98-BE60-4264-92F2-226562CAA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29100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IDOTRR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4658549-98E5-4C30-9AA7-8BBC587A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257675"/>
            <a:ext cx="4000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58B3081-DE30-4D29-9ABC-D0EF59020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257675"/>
            <a:ext cx="1308488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73207C2-F7E2-4209-8131-81139DA38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210050"/>
            <a:ext cx="628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$103K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B62997D-BD68-49AA-ABD6-B9584979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219575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6706C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66706C"/>
                </a:solidFill>
                <a:latin typeface="Avenir Next"/>
                <a:ea typeface="Avenir Next"/>
                <a:cs typeface="Avenir Next"/>
              </a:rPr>
              <a:t>n=37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B004C04-5C7C-4A73-8047-03BB2BF72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43425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BrDale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7376428-86CA-4681-8265-93AB23D31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572000"/>
            <a:ext cx="4000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7FE0081-94EC-4204-9D6C-2153997CC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572000"/>
            <a:ext cx="13466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F495F42-445B-471B-862D-722EE8CB4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524375"/>
            <a:ext cx="628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$106K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A94503B-1EC9-4CCA-8F4B-700922334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53390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6706C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66706C"/>
                </a:solidFill>
                <a:latin typeface="Avenir Next"/>
                <a:ea typeface="Avenir Next"/>
                <a:cs typeface="Avenir Next"/>
              </a:rPr>
              <a:t>n=16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B75A553-C3B5-4488-AF6B-3E1CF0F5F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57750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OldTown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2691146-4749-4CFA-B5AE-E3FB8DEAB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886325"/>
            <a:ext cx="4000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D63D390-78A3-4273-96B1-CD127B79B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886325"/>
            <a:ext cx="1511749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8BD0CFF-79FB-4549-9EC1-38F2DC98D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838700"/>
            <a:ext cx="628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$119K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4AFE134-F318-48CF-AD01-1647F378F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848225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6706C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66706C"/>
                </a:solidFill>
                <a:latin typeface="Avenir Next"/>
                <a:ea typeface="Avenir Next"/>
                <a:cs typeface="Avenir Next"/>
              </a:rPr>
              <a:t>n=113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E983179-11B2-4F31-AFA4-F958B5E52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72075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Edwards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B385EAE-20A9-4B7C-83AC-59A2252F6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200650"/>
            <a:ext cx="4000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3346FDC-EE39-40CE-AB43-23A36F013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200650"/>
            <a:ext cx="15466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DDCBC16-97EC-4934-8741-D92009037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153025"/>
            <a:ext cx="628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$122K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A31D52D-01F2-4B45-8535-CB59A1D65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1625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6706C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66706C"/>
                </a:solidFill>
                <a:latin typeface="Avenir Next"/>
                <a:ea typeface="Avenir Next"/>
                <a:cs typeface="Avenir Next"/>
              </a:rPr>
              <a:t>n=100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5D02309-2FC4-49BC-A322-895062CFF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114550"/>
            <a:ext cx="9525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5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6171752-16D1-4387-A3BE-C25C26CED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62150"/>
            <a:ext cx="3314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OverallQual arttıkça medyan fiyat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E768371-5DB3-4968-AD1F-1CD211864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616656"/>
            <a:ext cx="228600" cy="3363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F205E8B-C3FD-4C61-8829-8DE353A29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029200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66706C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66706C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3DC1446-AAC4-4016-B6D2-62E5B22E4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407106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15" b="1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615" b="1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$50K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DBEFE1D-2FE8-4FDE-B320-85FDE0AD2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565561"/>
            <a:ext cx="228600" cy="3874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7583087-FCE1-46CA-ADC8-F85D0259A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5029200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66706C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66706C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8AE3209-2131-43E2-835F-7E64A5D79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29393"/>
            <a:ext cx="228600" cy="5236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6A19EF6-6181-4BFC-AAB1-B456FD99C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029200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66706C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66706C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8DFC8FC-C541-4519-A716-37CA1A860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4316569"/>
            <a:ext cx="228600" cy="6364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5BB50B6-C1A5-4A83-B047-D0E4BC2A1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5029200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66706C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66706C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60E3F51-8853-4FE4-901F-401B0591A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186886"/>
            <a:ext cx="228600" cy="7661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6E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9635291-092F-48DB-B343-8FEF09B53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029200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66706C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66706C"/>
                </a:solidFill>
                <a:latin typeface="Avenir Next"/>
                <a:ea typeface="Avenir Next"/>
                <a:cs typeface="Avenir Next"/>
              </a:rPr>
              <a:t>5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B40431B-A37E-411E-B88A-2841A7418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977336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15" b="1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615" b="1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$133K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032B44D-5590-489E-A2CF-787F027DC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4048125"/>
            <a:ext cx="2286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6E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80D11ED-D4B3-4583-8D9E-34AD12A59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5029200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66706C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66706C"/>
                </a:solidFill>
                <a:latin typeface="Avenir Next"/>
                <a:ea typeface="Avenir Next"/>
                <a:cs typeface="Avenir Next"/>
              </a:rPr>
              <a:t>6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617AA8F-12CE-4C74-9C07-6A1AE90EC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834148"/>
            <a:ext cx="228600" cy="11188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6E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ACB755E-160B-4B49-8290-BE800468E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029200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66706C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66706C"/>
                </a:solidFill>
                <a:latin typeface="Avenir Next"/>
                <a:ea typeface="Avenir Next"/>
                <a:cs typeface="Avenir Next"/>
              </a:rPr>
              <a:t>7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2D73BA6-7D7A-401E-8662-DBD1EBB27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3476223"/>
            <a:ext cx="228600" cy="147677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BD26C9B-0820-40A4-A74D-9F332C336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5029200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66706C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66706C"/>
                </a:solidFill>
                <a:latin typeface="Avenir Next"/>
                <a:ea typeface="Avenir Next"/>
                <a:cs typeface="Avenir Next"/>
              </a:rPr>
              <a:t>8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AD870E0-E05C-4227-BD31-3E8A39638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266673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15" b="1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615" b="1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$270K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70B5466-F2D6-412F-A457-0AF764261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087173"/>
            <a:ext cx="228600" cy="186582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F2FEE9C-6D87-46CB-98DE-263B3A32E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5029200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66706C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66706C"/>
                </a:solidFill>
                <a:latin typeface="Avenir Next"/>
                <a:ea typeface="Avenir Next"/>
                <a:cs typeface="Avenir Next"/>
              </a:rPr>
              <a:t>9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7F4104F-A0FE-4236-842E-BF453771F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2667000"/>
            <a:ext cx="2286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CEE85B1-AF0B-4B28-A72A-5BDF9BE48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5029200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66706C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66706C"/>
                </a:solidFill>
                <a:latin typeface="Avenir Next"/>
                <a:ea typeface="Avenir Next"/>
                <a:cs typeface="Avenir Next"/>
              </a:rPr>
              <a:t>10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6D14B42-56DE-4BBF-9FDC-31414C628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3225" y="2457450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15" b="1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615" b="1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$426K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28AA134-A676-49F3-A80D-AD3954AD2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953000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5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C80972B5-42C8-46DE-A4FC-99E48F75A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2959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66706C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66706C"/>
                </a:solidFill>
                <a:latin typeface="Avenir Next"/>
                <a:ea typeface="Avenir Next"/>
                <a:cs typeface="Avenir Next"/>
              </a:rPr>
              <a:t>OverallQual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57C1D9B-7E0B-4A5F-8351-28CD3DD84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505450"/>
            <a:ext cx="1028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D87941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D87941"/>
                </a:solidFill>
                <a:latin typeface="Avenir Next"/>
                <a:ea typeface="Avenir Next"/>
                <a:cs typeface="Avenir Next"/>
              </a:rPr>
              <a:t>Model mesajı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67140AE-2090-44BD-94C4-CCC6EC42B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467350"/>
            <a:ext cx="2152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Neighborhood one-hot; OverallQual sıralı sayısal sinyal olarak korunur.</a:t>
            </a:r>
          </a:p>
        </p:txBody>
      </p:sp>
    </p:spTree>
    <p:extLst>
      <p:ext uri="{BB962C8B-B14F-4D97-AF65-F5344CB8AC3E}">
        <p14:creationId xmlns:p14="http://schemas.microsoft.com/office/powerpoint/2010/main" val="80326374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C845BCCF-3EDE-4116-ACFE-526D0779A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0-marker">
            <a:extLst xmlns:a="http://schemas.openxmlformats.org/drawingml/2006/main">
              <a:ext uri="{FF2B5EF4-FFF2-40B4-BE49-F238E27FC236}">
                <a16:creationId xmlns:a16="http://schemas.microsoft.com/office/drawing/2014/main" id="{055E57CE-A57B-4A9D-A98C-2B1527E67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0-label">
            <a:extLst xmlns:a="http://schemas.openxmlformats.org/drawingml/2006/main">
              <a:ext uri="{FF2B5EF4-FFF2-40B4-BE49-F238E27FC236}">
                <a16:creationId xmlns:a16="http://schemas.microsoft.com/office/drawing/2014/main" id="{00397CA7-492D-463C-A950-B9F0C9490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06C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6706C"/>
                </a:solidFill>
                <a:latin typeface="Avenir Next"/>
                <a:ea typeface="Avenir Next"/>
                <a:cs typeface="Avenir Next"/>
              </a:rPr>
              <a:t>P I P E L I N E   M I M A R I S I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8BEE5CD9-2A7B-43A8-B3DB-5652081DA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90575"/>
            <a:ext cx="9620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2022"/>
                </a:solidFill>
                <a:latin typeface="Baskerville"/>
                <a:ea typeface="Baskerville"/>
                <a:cs typeface="Baskerville"/>
              </a:defRPr>
            </a:pPr>
            <a:r>
              <a:rPr sz="2700" b="1">
                <a:solidFill>
                  <a:srgbClr val="152022"/>
                </a:solidFill>
                <a:latin typeface="Baskerville"/>
                <a:ea typeface="Baskerville"/>
                <a:cs typeface="Baskerville"/>
              </a:rPr>
              <a:t>Doğru sıra, temizliği tekrar üretilebilir ve leakage-safe hale getiriyor.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365B061-BDB0-4AB5-9901-90018655C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5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76C7097A-C2EF-47B0-887A-763C7834F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9906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0" b="0">
                <a:solidFill>
                  <a:srgbClr val="66706C"/>
                </a:solidFill>
                <a:latin typeface="Avenir Next"/>
                <a:ea typeface="Avenir Next"/>
                <a:cs typeface="Avenir Next"/>
              </a:defRPr>
            </a:pPr>
            <a:r>
              <a:rPr sz="570" b="0">
                <a:solidFill>
                  <a:srgbClr val="66706C"/>
                </a:solidFill>
                <a:latin typeface="Avenir Next"/>
                <a:ea typeface="Avenir Next"/>
                <a:cs typeface="Avenir Next"/>
              </a:rPr>
              <a:t>Kaynak: pipeline_machine_learning.py · src/pipelines/training_pipeline.py</a:t>
            </a:r>
          </a:p>
        </p:txBody>
      </p:sp>
      <p:sp>
        <p:nvSpPr>
          <p:cNvPr id="7" name="page-marker">
            <a:extLst xmlns:a="http://schemas.openxmlformats.org/drawingml/2006/main">
              <a:ext uri="{FF2B5EF4-FFF2-40B4-BE49-F238E27FC236}">
                <a16:creationId xmlns:a16="http://schemas.microsoft.com/office/drawing/2014/main" id="{1DA39407-432B-40B1-B262-00D0C935E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510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66706C"/>
                </a:solidFill>
                <a:latin typeface="Baskerville"/>
                <a:ea typeface="Baskerville"/>
                <a:cs typeface="Baskerville"/>
              </a:defRPr>
            </a:pPr>
            <a:r>
              <a:rPr sz="788" b="1">
                <a:solidFill>
                  <a:srgbClr val="66706C"/>
                </a:solidFill>
                <a:latin typeface="Baskerville"/>
                <a:ea typeface="Baskerville"/>
                <a:cs typeface="Baskerville"/>
              </a:rPr>
              <a:t>10</a:t>
            </a:r>
          </a:p>
        </p:txBody>
      </p:sp>
      <p:sp>
        <p:nvSpPr>
          <p:cNvPr id="8" name="connector-1">
            <a:extLst xmlns:a="http://schemas.openxmlformats.org/drawingml/2006/main">
              <a:ext uri="{FF2B5EF4-FFF2-40B4-BE49-F238E27FC236}">
                <a16:creationId xmlns:a16="http://schemas.microsoft.com/office/drawing/2014/main" id="{5BDE5FAF-D447-47FA-A9F0-8FCC94094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038475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pipeline-stage-1">
            <a:extLst xmlns:a="http://schemas.openxmlformats.org/drawingml/2006/main">
              <a:ext uri="{FF2B5EF4-FFF2-40B4-BE49-F238E27FC236}">
                <a16:creationId xmlns:a16="http://schemas.microsoft.com/office/drawing/2014/main" id="{586FD06B-C00F-4F79-A381-4979323B1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33650"/>
            <a:ext cx="1619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5DA"/>
          </a:solidFill>
          <a:ln xmlns:a="http://schemas.openxmlformats.org/drawingml/2006/main" w="9525">
            <a:solidFill>
              <a:srgbClr val="C9C5B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F58163-4BA9-4F99-B752-1A574BFFB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1A73F0-24A2-4CBA-A841-DA536D426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43200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AFAF7"/>
                </a:solidFill>
                <a:latin typeface="Avenir Next"/>
                <a:ea typeface="Avenir Next"/>
                <a:cs typeface="Avenir Next"/>
              </a:defRPr>
            </a:pPr>
            <a:r>
              <a:rPr sz="600" b="1">
                <a:solidFill>
                  <a:srgbClr val="FAFAF7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A9322F-2AE0-4496-BAA6-9A7C50930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00375"/>
            <a:ext cx="1276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Ham 30 feature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18AE9A-95D2-4BFB-8EB7-62A12EE58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314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66706C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66706C"/>
                </a:solidFill>
                <a:latin typeface="Avenir Next"/>
                <a:ea typeface="Avenir Next"/>
                <a:cs typeface="Avenir Next"/>
              </a:rPr>
              <a:t>X_train / y_train</a:t>
            </a:r>
          </a:p>
        </p:txBody>
      </p:sp>
      <p:sp>
        <p:nvSpPr>
          <p:cNvPr id="14" name="connector-2">
            <a:extLst xmlns:a="http://schemas.openxmlformats.org/drawingml/2006/main">
              <a:ext uri="{FF2B5EF4-FFF2-40B4-BE49-F238E27FC236}">
                <a16:creationId xmlns:a16="http://schemas.microsoft.com/office/drawing/2014/main" id="{68EEEB60-66E3-455A-BB4D-4AE13C999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362325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pipeline-stage-2">
            <a:extLst xmlns:a="http://schemas.openxmlformats.org/drawingml/2006/main">
              <a:ext uri="{FF2B5EF4-FFF2-40B4-BE49-F238E27FC236}">
                <a16:creationId xmlns:a16="http://schemas.microsoft.com/office/drawing/2014/main" id="{B4A77F17-778B-488E-989E-F73E4331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857500"/>
            <a:ext cx="1619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5DA"/>
          </a:solidFill>
          <a:ln xmlns:a="http://schemas.openxmlformats.org/drawingml/2006/main" w="9525">
            <a:solidFill>
              <a:srgbClr val="C9C5B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093ECA-D53B-4B52-BF33-9ADE0B13D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9908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E7C1F4-A2FB-45CF-97B4-F55563FD4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067050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AFAF7"/>
                </a:solidFill>
                <a:latin typeface="Avenir Next"/>
                <a:ea typeface="Avenir Next"/>
                <a:cs typeface="Avenir Next"/>
              </a:defRPr>
            </a:pPr>
            <a:r>
              <a:rPr sz="600" b="1">
                <a:solidFill>
                  <a:srgbClr val="FAFAF7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50BA45-2286-43C5-9F5B-4413EA866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324225"/>
            <a:ext cx="1276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DomainFeatureEngineer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EBDEB2-7FDA-45D7-BC46-5DC9FDEC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657600"/>
            <a:ext cx="1314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66706C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66706C"/>
                </a:solidFill>
                <a:latin typeface="Avenir Next"/>
                <a:ea typeface="Avenir Next"/>
                <a:cs typeface="Avenir Next"/>
              </a:rPr>
              <a:t>semantik NA + türetimler</a:t>
            </a:r>
          </a:p>
        </p:txBody>
      </p:sp>
      <p:sp>
        <p:nvSpPr>
          <p:cNvPr id="20" name="connector-3">
            <a:extLst xmlns:a="http://schemas.openxmlformats.org/drawingml/2006/main">
              <a:ext uri="{FF2B5EF4-FFF2-40B4-BE49-F238E27FC236}">
                <a16:creationId xmlns:a16="http://schemas.microsoft.com/office/drawing/2014/main" id="{0691DE3D-2637-4AB6-BA76-F9CC68271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038475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pipeline-stage-3">
            <a:extLst xmlns:a="http://schemas.openxmlformats.org/drawingml/2006/main">
              <a:ext uri="{FF2B5EF4-FFF2-40B4-BE49-F238E27FC236}">
                <a16:creationId xmlns:a16="http://schemas.microsoft.com/office/drawing/2014/main" id="{05717B58-385A-470D-9F1C-746B45109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33650"/>
            <a:ext cx="1619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DF"/>
          </a:solidFill>
          <a:ln xmlns:a="http://schemas.openxmlformats.org/drawingml/2006/main" w="9525">
            <a:solidFill>
              <a:srgbClr val="C9C5B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B940F4-9CB5-4C3D-9436-D1889C87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670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827727-F867-4EDB-BCE1-1C7979D2D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43200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AFAF7"/>
                </a:solidFill>
                <a:latin typeface="Avenir Next"/>
                <a:ea typeface="Avenir Next"/>
                <a:cs typeface="Avenir Next"/>
              </a:defRPr>
            </a:pPr>
            <a:r>
              <a:rPr sz="600" b="1">
                <a:solidFill>
                  <a:srgbClr val="FAFAF7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876FD8-67AD-4393-9952-7A7106CF6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00375"/>
            <a:ext cx="1276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LotFrontage imputer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203C2F-8E76-4860-ABA0-0273D8C7B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333750"/>
            <a:ext cx="1314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66706C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66706C"/>
                </a:solidFill>
                <a:latin typeface="Avenir Next"/>
                <a:ea typeface="Avenir Next"/>
                <a:cs typeface="Avenir Next"/>
              </a:rPr>
              <a:t>mahalle medyanı train'den</a:t>
            </a:r>
          </a:p>
        </p:txBody>
      </p:sp>
      <p:sp>
        <p:nvSpPr>
          <p:cNvPr id="26" name="connector-4">
            <a:extLst xmlns:a="http://schemas.openxmlformats.org/drawingml/2006/main">
              <a:ext uri="{FF2B5EF4-FFF2-40B4-BE49-F238E27FC236}">
                <a16:creationId xmlns:a16="http://schemas.microsoft.com/office/drawing/2014/main" id="{F0F43143-F658-4E25-BB7F-4F8CCAE8A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62325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pipeline-stage-4">
            <a:extLst xmlns:a="http://schemas.openxmlformats.org/drawingml/2006/main">
              <a:ext uri="{FF2B5EF4-FFF2-40B4-BE49-F238E27FC236}">
                <a16:creationId xmlns:a16="http://schemas.microsoft.com/office/drawing/2014/main" id="{D3E00D7C-67A8-4BCF-A950-FCFBEC5B6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57500"/>
            <a:ext cx="1619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5DA"/>
          </a:solidFill>
          <a:ln xmlns:a="http://schemas.openxmlformats.org/drawingml/2006/main" w="9525">
            <a:solidFill>
              <a:srgbClr val="C9C5B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281A3B-0F89-4375-A941-354C7F22E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08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FBF660-9C20-4B23-9533-4DB173224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67050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AFAF7"/>
                </a:solidFill>
                <a:latin typeface="Avenir Next"/>
                <a:ea typeface="Avenir Next"/>
                <a:cs typeface="Avenir Next"/>
              </a:defRPr>
            </a:pPr>
            <a:r>
              <a:rPr sz="600" b="1">
                <a:solidFill>
                  <a:srgbClr val="FAFAF7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01B858-8FAA-4B8B-A342-4EF2F3BE6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24225"/>
            <a:ext cx="1276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Ordinal + One-hot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C4D5B9-E704-4801-BA61-9E2D37649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57600"/>
            <a:ext cx="1314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66706C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66706C"/>
                </a:solidFill>
                <a:latin typeface="Avenir Next"/>
                <a:ea typeface="Avenir Next"/>
                <a:cs typeface="Avenir Next"/>
              </a:rPr>
              <a:t>bilinmeyen kategori ignore</a:t>
            </a:r>
          </a:p>
        </p:txBody>
      </p:sp>
      <p:sp>
        <p:nvSpPr>
          <p:cNvPr id="32" name="connector-5">
            <a:extLst xmlns:a="http://schemas.openxmlformats.org/drawingml/2006/main">
              <a:ext uri="{FF2B5EF4-FFF2-40B4-BE49-F238E27FC236}">
                <a16:creationId xmlns:a16="http://schemas.microsoft.com/office/drawing/2014/main" id="{17752D67-E62F-4FA7-B96B-3C3DED3A7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038475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pipeline-stage-5">
            <a:extLst xmlns:a="http://schemas.openxmlformats.org/drawingml/2006/main">
              <a:ext uri="{FF2B5EF4-FFF2-40B4-BE49-F238E27FC236}">
                <a16:creationId xmlns:a16="http://schemas.microsoft.com/office/drawing/2014/main" id="{BB5D9D1C-1B6E-4CD8-B72F-D9F825D7C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33650"/>
            <a:ext cx="1619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5DA"/>
          </a:solidFill>
          <a:ln xmlns:a="http://schemas.openxmlformats.org/drawingml/2006/main" w="9525">
            <a:solidFill>
              <a:srgbClr val="C9C5B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4E590DC-C6CC-4C48-9C47-26F5B5244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670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729DDF7-867F-4468-8AC1-2BA4BA02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43200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AFAF7"/>
                </a:solidFill>
                <a:latin typeface="Avenir Next"/>
                <a:ea typeface="Avenir Next"/>
                <a:cs typeface="Avenir Next"/>
              </a:defRPr>
            </a:pPr>
            <a:r>
              <a:rPr sz="600" b="1">
                <a:solidFill>
                  <a:srgbClr val="FAFAF7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CE2AD55-00ED-4BC3-B9FD-205A43FC0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00375"/>
            <a:ext cx="1276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StandardScaler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056FDCB-CDC1-44B2-8C78-E15757D07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33750"/>
            <a:ext cx="1314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66706C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66706C"/>
                </a:solidFill>
                <a:latin typeface="Avenir Next"/>
                <a:ea typeface="Avenir Next"/>
                <a:cs typeface="Avenir Next"/>
              </a:rPr>
              <a:t>yalnız lineer modelde</a:t>
            </a:r>
          </a:p>
        </p:txBody>
      </p:sp>
      <p:sp>
        <p:nvSpPr>
          <p:cNvPr id="38" name="pipeline-stage-6">
            <a:extLst xmlns:a="http://schemas.openxmlformats.org/drawingml/2006/main">
              <a:ext uri="{FF2B5EF4-FFF2-40B4-BE49-F238E27FC236}">
                <a16:creationId xmlns:a16="http://schemas.microsoft.com/office/drawing/2014/main" id="{C55B7F87-0734-48D0-87C1-3A3852913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857500"/>
            <a:ext cx="1619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1B"/>
          </a:solidFill>
          <a:ln xmlns:a="http://schemas.openxmlformats.org/drawingml/2006/main" w="9525">
            <a:solidFill>
              <a:srgbClr val="10191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1420DAB-BD72-4CCD-8B52-BFD5E4DF6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9908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425A13A-8AAB-4C45-8A5F-DD5940FE0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067050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AFAF7"/>
                </a:solidFill>
                <a:latin typeface="Avenir Next"/>
                <a:ea typeface="Avenir Next"/>
                <a:cs typeface="Avenir Next"/>
              </a:defRPr>
            </a:pPr>
            <a:r>
              <a:rPr sz="600" b="1">
                <a:solidFill>
                  <a:srgbClr val="FAFAF7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EC806C6-B80C-4AC3-842F-4DD5B5F2B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324225"/>
            <a:ext cx="1276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AFAF7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FAFAF7"/>
                </a:solidFill>
                <a:latin typeface="Avenir Next"/>
                <a:ea typeface="Avenir Next"/>
                <a:cs typeface="Avenir Next"/>
              </a:rPr>
              <a:t>log1p hedef + Ridge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73EB177-B3B7-4B86-B14F-87FA365AD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657600"/>
            <a:ext cx="1314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AEBAB7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AEBAB7"/>
                </a:solidFill>
                <a:latin typeface="Avenir Next"/>
                <a:ea typeface="Avenir Next"/>
                <a:cs typeface="Avenir Next"/>
              </a:rPr>
              <a:t>expm1 ile dolar çıktısı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3EB6FA0-C693-4FF2-A213-3A6CA8677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52950"/>
            <a:ext cx="55054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7AF9E75-6FD7-4395-8BE3-2835E63AE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F7A63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1F7A63"/>
                </a:solidFill>
                <a:latin typeface="Avenir Next"/>
                <a:ea typeface="Avenir Next"/>
                <a:cs typeface="Avenir Next"/>
              </a:rPr>
              <a:t>FIT sınırı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8BEAF30-B938-4F60-A665-8FEDC17CA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938" b="1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Median, encoder kategorileri ve scaler istatistikleri yalnız train üzerinde öğrenilir.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4DB2F0B-3986-4505-8BCE-9A4907177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552950"/>
            <a:ext cx="55054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2F767B6-DAF2-4B80-A0EF-A35BF99C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71487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6C15A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E6C15A"/>
                </a:solidFill>
                <a:latin typeface="Avenir Next"/>
                <a:ea typeface="Avenir Next"/>
                <a:cs typeface="Avenir Next"/>
              </a:rPr>
              <a:t>TRANSFORM sınırı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1B70D0D-2507-4DC3-A4FF-E68A31342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0101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AFAF7"/>
                </a:solidFill>
                <a:latin typeface="Avenir Next"/>
                <a:ea typeface="Avenir Next"/>
                <a:cs typeface="Avenir Next"/>
              </a:defRPr>
            </a:pPr>
            <a:r>
              <a:rPr sz="938" b="1">
                <a:solidFill>
                  <a:srgbClr val="FAFAF7"/>
                </a:solidFill>
                <a:latin typeface="Avenir Next"/>
                <a:ea typeface="Avenir Next"/>
                <a:cs typeface="Avenir Next"/>
              </a:rPr>
              <a:t>Validation/test aynı öğrenilmiş parametrelerden geçer; yeniden fit edilmez.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161B1F0-EC48-4C8C-BA85-8B9073BC6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695950"/>
            <a:ext cx="586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6706C"/>
                </a:solidFill>
                <a:latin typeface="Baskerville"/>
                <a:ea typeface="Baskerville"/>
                <a:cs typeface="Baskerville"/>
              </a:defRPr>
            </a:pPr>
            <a:r>
              <a:rPr sz="900" b="1">
                <a:solidFill>
                  <a:srgbClr val="66706C"/>
                </a:solidFill>
                <a:latin typeface="Baskerville"/>
                <a:ea typeface="Baskerville"/>
                <a:cs typeface="Baskerville"/>
              </a:rPr>
              <a:t>Aynı pipeline joblib ve MLflow'a tek model nesnesi olarak kaydedilir.</a:t>
            </a:r>
          </a:p>
        </p:txBody>
      </p:sp>
    </p:spTree>
    <p:extLst>
      <p:ext uri="{BB962C8B-B14F-4D97-AF65-F5344CB8AC3E}">
        <p14:creationId xmlns:p14="http://schemas.microsoft.com/office/powerpoint/2010/main" val="45811385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8E3A6720-BC41-4DA8-BD80-3743BD693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1-marker">
            <a:extLst xmlns:a="http://schemas.openxmlformats.org/drawingml/2006/main">
              <a:ext uri="{FF2B5EF4-FFF2-40B4-BE49-F238E27FC236}">
                <a16:creationId xmlns:a16="http://schemas.microsoft.com/office/drawing/2014/main" id="{E71381B8-A882-41BC-AB06-C133519E3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1-label">
            <a:extLst xmlns:a="http://schemas.openxmlformats.org/drawingml/2006/main">
              <a:ext uri="{FF2B5EF4-FFF2-40B4-BE49-F238E27FC236}">
                <a16:creationId xmlns:a16="http://schemas.microsoft.com/office/drawing/2014/main" id="{EFB0DC14-241A-4093-9F13-0E307B7FD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06C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6706C"/>
                </a:solidFill>
                <a:latin typeface="Avenir Next"/>
                <a:ea typeface="Avenir Next"/>
                <a:cs typeface="Avenir Next"/>
              </a:rPr>
              <a:t>F E A T U R E   E N G I N E E R I N G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5C1DF798-40DB-4390-B80E-B3DECDF9E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90575"/>
            <a:ext cx="9620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2022"/>
                </a:solidFill>
                <a:latin typeface="Baskerville"/>
                <a:ea typeface="Baskerville"/>
                <a:cs typeface="Baskerville"/>
              </a:defRPr>
            </a:pPr>
            <a:r>
              <a:rPr sz="2700" b="1">
                <a:solidFill>
                  <a:srgbClr val="152022"/>
                </a:solidFill>
                <a:latin typeface="Baskerville"/>
                <a:ea typeface="Baskerville"/>
                <a:cs typeface="Baskerville"/>
              </a:rPr>
              <a:t>Hipotezler gruplar halinde, tek değişkenli deneylerle test edildi.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4DC9CEB-E391-4244-8E23-D63E15834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5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9919236E-60C7-4704-B34E-81C5B0C0E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9906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0" b="0">
                <a:solidFill>
                  <a:srgbClr val="66706C"/>
                </a:solidFill>
                <a:latin typeface="Avenir Next"/>
                <a:ea typeface="Avenir Next"/>
                <a:cs typeface="Avenir Next"/>
              </a:defRPr>
            </a:pPr>
            <a:r>
              <a:rPr sz="570" b="0">
                <a:solidFill>
                  <a:srgbClr val="66706C"/>
                </a:solidFill>
                <a:latin typeface="Avenir Next"/>
                <a:ea typeface="Avenir Next"/>
                <a:cs typeface="Avenir Next"/>
              </a:rPr>
              <a:t>Kaynak: scripts/run_feature_engineering_experiments.py</a:t>
            </a:r>
          </a:p>
        </p:txBody>
      </p:sp>
      <p:sp>
        <p:nvSpPr>
          <p:cNvPr id="7" name="page-marker">
            <a:extLst xmlns:a="http://schemas.openxmlformats.org/drawingml/2006/main">
              <a:ext uri="{FF2B5EF4-FFF2-40B4-BE49-F238E27FC236}">
                <a16:creationId xmlns:a16="http://schemas.microsoft.com/office/drawing/2014/main" id="{96CD4541-1903-4CAB-84A7-79DB5B80D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510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66706C"/>
                </a:solidFill>
                <a:latin typeface="Baskerville"/>
                <a:ea typeface="Baskerville"/>
                <a:cs typeface="Baskerville"/>
              </a:defRPr>
            </a:pPr>
            <a:r>
              <a:rPr sz="788" b="1">
                <a:solidFill>
                  <a:srgbClr val="66706C"/>
                </a:solidFill>
                <a:latin typeface="Baskerville"/>
                <a:ea typeface="Baskerville"/>
                <a:cs typeface="Baskerville"/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1629A5-EB07-4E7D-86D1-A916129D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11087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F93316-DDC8-417E-9C0F-B0A15A62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AFAF7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FAFAF7"/>
                </a:solidFill>
                <a:latin typeface="Avenir Next"/>
                <a:ea typeface="Avenir Next"/>
                <a:cs typeface="Avenir Next"/>
              </a:rPr>
              <a:t>YÖNTEM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57DF38-5DA9-42AC-93D8-8D21B2003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09550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AFAF7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FAFAF7"/>
                </a:solidFill>
                <a:latin typeface="Avenir Next"/>
                <a:ea typeface="Avenir Next"/>
                <a:cs typeface="Avenir Next"/>
              </a:rPr>
              <a:t>#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0DB261-1B46-4BCD-B7A8-CD7186318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95500"/>
            <a:ext cx="3276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AFAF7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FAFAF7"/>
                </a:solidFill>
                <a:latin typeface="Avenir Next"/>
                <a:ea typeface="Avenir Next"/>
                <a:cs typeface="Avenir Next"/>
              </a:rPr>
              <a:t>ÖRNEK FEATURE'LAR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E3EE31-283E-4764-9B44-3620FD7E6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0955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AFAF7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FAFAF7"/>
                </a:solidFill>
                <a:latin typeface="Avenir Next"/>
                <a:ea typeface="Avenir Next"/>
                <a:cs typeface="Avenir Next"/>
              </a:rPr>
              <a:t>HİPOTEZ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A894D3-6266-4ED3-9440-6423EC36C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57450"/>
            <a:ext cx="11087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5AD461-5317-4A86-B0B9-914D5F22B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146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Birleştirme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3911AA-F843-4D35-99C1-228FA65E6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146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F7A63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1F7A63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5056E0-908E-41C7-86CF-B36E62E9D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14600"/>
            <a:ext cx="3276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TotalSF · TotalBathrooms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9002E2-7C18-4F10-A5BB-83CB30A97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51460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6C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6706C"/>
                </a:solidFill>
                <a:latin typeface="Avenir Next"/>
                <a:ea typeface="Avenir Next"/>
                <a:cs typeface="Avenir Next"/>
              </a:rPr>
              <a:t>dağınık alanı tek kapasite sinyaline çevir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9CE95C-FC75-4C38-B94D-826098537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860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5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C969F7-A1DB-47E9-BA6F-732042D97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Ayrıştırma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C37F03-3A8F-4E4D-A5CC-27459AD20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0003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F7A63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1F7A63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6330A2-4342-423B-8A4E-4C03EC5E2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000375"/>
            <a:ext cx="3276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BuildDecade · RemodelDecade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BCE050-302E-4F9F-B411-63504EE79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000375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6C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6706C"/>
                </a:solidFill>
                <a:latin typeface="Avenir Next"/>
                <a:ea typeface="Avenir Next"/>
                <a:cs typeface="Avenir Next"/>
              </a:rPr>
              <a:t>yıl etkisini dönem + dönem içi bileşene ayır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1073AD-A80B-4DC0-9D9A-BDF852B84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71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5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8B4C6B-AC14-45AB-9A02-07C93F350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0"/>
            <a:ext cx="11087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AA1ED0-A402-43A8-9951-D10240E33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861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Dönüştürme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A97D7E-70E0-4B79-8096-646307399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48615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F7A63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1F7A63"/>
                </a:solidFill>
                <a:latin typeface="Avenir Next"/>
                <a:ea typeface="Avenir Next"/>
                <a:cs typeface="Avenir Next"/>
              </a:rPr>
              <a:t>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CCD7D8-A543-4C6E-85DB-19F35E0B2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86150"/>
            <a:ext cx="3276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LogLotArea · LogGrLivArea …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4A309D-6880-4537-A1EE-4CC64AC76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8615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6C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6706C"/>
                </a:solidFill>
                <a:latin typeface="Avenir Next"/>
                <a:ea typeface="Avenir Next"/>
                <a:cs typeface="Avenir Next"/>
              </a:rPr>
              <a:t>sağa çarpık feature kuyruğunu sıkıştır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FC147E-F43E-433F-91C8-0115A5C15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576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5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8396F1-591B-460F-836E-AF22CB96F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71925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Etkileşim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2F9766F-0BF7-40D1-8E1A-B0FD529C4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97192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F7A63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1F7A63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041460E-DA8B-4CCD-A7B9-B10BD456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71925"/>
            <a:ext cx="3276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Qual × GrLivArea / Basement / Garage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3505AD2-18E2-48AE-A8DA-206E771F8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971925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6C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6706C"/>
                </a:solidFill>
                <a:latin typeface="Avenir Next"/>
                <a:ea typeface="Avenir Next"/>
                <a:cs typeface="Avenir Next"/>
              </a:rPr>
              <a:t>kalite ile kapasitenin ortak etkisini yakala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267820B-3634-4797-B2E4-390001A9D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434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5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40B7564-F528-4D3C-8B7B-32FA2176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00550"/>
            <a:ext cx="11087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AFFDD50-EDEB-495A-B74C-EB1F3C477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577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Indicator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7EB1983-E0BF-4A7E-8C0C-51400094E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4577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F7A63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1F7A63"/>
                </a:solidFill>
                <a:latin typeface="Avenir Next"/>
                <a:ea typeface="Avenir Next"/>
                <a:cs typeface="Avenir Next"/>
              </a:rPr>
              <a:t>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D4F3BE3-4066-49BC-B285-F8F8F97F9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57700"/>
            <a:ext cx="3276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HasGarage · HasBasement …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AF5D573-EAF7-46B6-BF51-B0E93EE7B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45770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6C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6706C"/>
                </a:solidFill>
                <a:latin typeface="Avenir Next"/>
                <a:ea typeface="Avenir Next"/>
                <a:cs typeface="Avenir Next"/>
              </a:rPr>
              <a:t>yokluk/varlık bilgisini doğrudan kodla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859E63F-C341-432A-B4FB-F15F15B8B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291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5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5CE2F99-C613-4C62-8DF9-43F8D653A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43475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Binning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F6CE5CB-9343-4981-A565-D4FDF2332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9434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F7A63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1F7A63"/>
                </a:solidFill>
                <a:latin typeface="Avenir Next"/>
                <a:ea typeface="Avenir Next"/>
                <a:cs typeface="Avenir Next"/>
              </a:rPr>
              <a:t>7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8ECA29C-57C2-4529-A8D2-78EA3EB57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943475"/>
            <a:ext cx="3276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Qual_Low/Mid/High · dönemler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5620FE9-DD31-4457-B00D-29617CAF8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943475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6C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6706C"/>
                </a:solidFill>
                <a:latin typeface="Avenir Next"/>
                <a:ea typeface="Avenir Next"/>
                <a:cs typeface="Avenir Next"/>
              </a:rPr>
              <a:t>eşik davranışını açık kategorilere dönüştür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1B78302-9BAA-40AD-9778-FF9EE4352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14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5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772D92E-7299-430A-87F4-5A8FEC862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72100"/>
            <a:ext cx="11087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13554BB-6EFC-4D64-A0F4-676E3A24A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Domain-based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F1AB044-DB54-4C6A-82E6-5BC018A9D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42925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87941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D87941"/>
                </a:solidFill>
                <a:latin typeface="Avenir Next"/>
                <a:ea typeface="Avenir Next"/>
                <a:cs typeface="Avenir Next"/>
              </a:rPr>
              <a:t>6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97FB05A-8BF0-4720-906A-72DB02A71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429250"/>
            <a:ext cx="3276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HouseAge · area/room · ratios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B8379B3-0841-4729-A9E2-F32980890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42925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6C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6706C"/>
                </a:solidFill>
                <a:latin typeface="Avenir Next"/>
                <a:ea typeface="Avenir Next"/>
                <a:cs typeface="Avenir Next"/>
              </a:rPr>
              <a:t>fiziksel kullanım ve yaş mantığını modele ekle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848CBF7-785E-4C1A-9769-5B394F7C9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007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5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D6D8FF0-4EEF-4FAF-8D5F-6085E7E55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43600"/>
            <a:ext cx="11087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6EB2C73-CE15-480C-A2FE-ECF19F1B5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742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1F7A63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1F7A63"/>
                </a:solidFill>
                <a:latin typeface="Avenir Next"/>
                <a:ea typeface="Avenir Next"/>
                <a:cs typeface="Avenir Next"/>
              </a:rPr>
              <a:t>Kontrol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BCAB6EB-1409-4EB3-873F-8B258FF52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991225"/>
            <a:ext cx="923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Model, split, preprocessing ve metrikler sabit; değişen tek unsur feature grubu.</a:t>
            </a:r>
          </a:p>
        </p:txBody>
      </p:sp>
    </p:spTree>
    <p:extLst>
      <p:ext uri="{BB962C8B-B14F-4D97-AF65-F5344CB8AC3E}">
        <p14:creationId xmlns:p14="http://schemas.microsoft.com/office/powerpoint/2010/main" val="153964028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4804BE21-66B2-4D87-A0E1-F2B5A90A4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2-marker">
            <a:extLst xmlns:a="http://schemas.openxmlformats.org/drawingml/2006/main">
              <a:ext uri="{FF2B5EF4-FFF2-40B4-BE49-F238E27FC236}">
                <a16:creationId xmlns:a16="http://schemas.microsoft.com/office/drawing/2014/main" id="{04C887A0-A8EC-4D2C-AE8F-57A2FAC44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2-label">
            <a:extLst xmlns:a="http://schemas.openxmlformats.org/drawingml/2006/main">
              <a:ext uri="{FF2B5EF4-FFF2-40B4-BE49-F238E27FC236}">
                <a16:creationId xmlns:a16="http://schemas.microsoft.com/office/drawing/2014/main" id="{1A134369-8F46-43C6-8E58-3B6A67A98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06C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6706C"/>
                </a:solidFill>
                <a:latin typeface="Avenir Next"/>
                <a:ea typeface="Avenir Next"/>
                <a:cs typeface="Avenir Next"/>
              </a:rPr>
              <a:t>D E N E Y   S O N U C U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2C21022B-3DCB-4DFF-BF10-4A462C5A3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90575"/>
            <a:ext cx="9620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2022"/>
                </a:solidFill>
                <a:latin typeface="Baskerville"/>
                <a:ea typeface="Baskerville"/>
                <a:cs typeface="Baskerville"/>
              </a:defRPr>
            </a:pPr>
            <a:r>
              <a:rPr sz="2700" b="1">
                <a:solidFill>
                  <a:srgbClr val="152022"/>
                </a:solidFill>
                <a:latin typeface="Baskerville"/>
                <a:ea typeface="Baskerville"/>
                <a:cs typeface="Baskerville"/>
              </a:rPr>
              <a:t>Yedi feature grubundan hiçbiri validation ve testte birlikte kazanmadı.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96E9B27-D452-432E-AF07-6C1DDA6D4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5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8A37D46E-B8D5-4A23-92EE-07EE8F193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9906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0" b="0">
                <a:solidFill>
                  <a:srgbClr val="66706C"/>
                </a:solidFill>
                <a:latin typeface="Avenir Next"/>
                <a:ea typeface="Avenir Next"/>
                <a:cs typeface="Avenir Next"/>
              </a:defRPr>
            </a:pPr>
            <a:r>
              <a:rPr sz="570" b="0">
                <a:solidFill>
                  <a:srgbClr val="66706C"/>
                </a:solidFill>
                <a:latin typeface="Avenir Next"/>
                <a:ea typeface="Avenir Next"/>
                <a:cs typeface="Avenir Next"/>
              </a:rPr>
              <a:t>Kaynak: artifacts/feature_engineering/feature_engineering_summary.csv · pozitif = hata azalması</a:t>
            </a:r>
          </a:p>
        </p:txBody>
      </p:sp>
      <p:sp>
        <p:nvSpPr>
          <p:cNvPr id="7" name="page-marker">
            <a:extLst xmlns:a="http://schemas.openxmlformats.org/drawingml/2006/main">
              <a:ext uri="{FF2B5EF4-FFF2-40B4-BE49-F238E27FC236}">
                <a16:creationId xmlns:a16="http://schemas.microsoft.com/office/drawing/2014/main" id="{6F288BC4-2EF4-4646-B5C7-F188FA341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510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66706C"/>
                </a:solidFill>
                <a:latin typeface="Baskerville"/>
                <a:ea typeface="Baskerville"/>
                <a:cs typeface="Baskerville"/>
              </a:defRPr>
            </a:pPr>
            <a:r>
              <a:rPr sz="788" b="1">
                <a:solidFill>
                  <a:srgbClr val="66706C"/>
                </a:solidFill>
                <a:latin typeface="Baskerville"/>
                <a:ea typeface="Baskerville"/>
                <a:cs typeface="Baskerville"/>
              </a:rPr>
              <a:t>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7EC3D5-5627-4818-ADC3-1250ECE01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14550"/>
            <a:ext cx="952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1ACF9C-09FA-45B6-ACD3-222C4BAD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9431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1F7A63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1F7A63"/>
                </a:solidFill>
                <a:latin typeface="Avenir Next"/>
                <a:ea typeface="Avenir Next"/>
                <a:cs typeface="Avenir Next"/>
              </a:rPr>
              <a:t>RMSE iyileşti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0BBC48-21DE-4A5C-B92C-67E61D88D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94310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B94F4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B94F4F"/>
                </a:solidFill>
                <a:latin typeface="Avenir Next"/>
                <a:ea typeface="Avenir Next"/>
                <a:cs typeface="Avenir Next"/>
              </a:rPr>
              <a:t>RMSE kötüleşti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59E7BA-DC98-4962-BE21-152C43639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9431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3C6E8F"/>
                </a:solidFill>
                <a:latin typeface="Avenir Next"/>
                <a:ea typeface="Avenir Next"/>
                <a:cs typeface="Avenir Next"/>
              </a:defRPr>
            </a:pPr>
            <a:r>
              <a:rPr sz="600" b="1">
                <a:solidFill>
                  <a:srgbClr val="3C6E8F"/>
                </a:solidFill>
                <a:latin typeface="Avenir Next"/>
                <a:ea typeface="Avenir Next"/>
                <a:cs typeface="Avenir Next"/>
              </a:rPr>
              <a:t>VAL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FC7151-EF3C-467F-8901-7EB36FE34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9431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D87941"/>
                </a:solidFill>
                <a:latin typeface="Avenir Next"/>
                <a:ea typeface="Avenir Next"/>
                <a:cs typeface="Avenir Next"/>
              </a:defRPr>
            </a:pPr>
            <a:r>
              <a:rPr sz="600" b="1">
                <a:solidFill>
                  <a:srgbClr val="D87941"/>
                </a:solidFill>
                <a:latin typeface="Avenir Next"/>
                <a:ea typeface="Avenir Next"/>
                <a:cs typeface="Avenir Next"/>
              </a:rPr>
              <a:t>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A56376-6D2D-4419-A07C-774361A57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050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Birleştirme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8A8757-0C70-4FB8-9DE8-0731B941A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4113" y="2286000"/>
            <a:ext cx="42187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6E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09F397-D349-46B2-98B0-EECE00C0A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1835" y="2400300"/>
            <a:ext cx="190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44803D-396D-43F4-B66D-67D6D72C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57425"/>
            <a:ext cx="619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3C6E8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3C6E8F"/>
                </a:solidFill>
                <a:latin typeface="Avenir Next"/>
                <a:ea typeface="Avenir Next"/>
                <a:cs typeface="Avenir Next"/>
              </a:rPr>
              <a:t>-0.08%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9C4CDF-ADAC-49D9-9FFE-BE854138A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37172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B94F4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B94F4F"/>
                </a:solidFill>
                <a:latin typeface="Avenir Next"/>
                <a:ea typeface="Avenir Next"/>
                <a:cs typeface="Avenir Next"/>
              </a:rPr>
              <a:t>-0.01%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F9C0EE-FEB5-448D-B00D-2E53AC280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Ayrıştırma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65729B-B0F8-45E5-B892-18D0360EF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0790" y="2724150"/>
            <a:ext cx="10551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6E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06FC30-11C4-415E-ACFA-346F307E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1652" y="2838450"/>
            <a:ext cx="224648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C0B361-A15C-4A05-9DC7-D218887A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95575"/>
            <a:ext cx="619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3C6E8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3C6E8F"/>
                </a:solidFill>
                <a:latin typeface="Avenir Next"/>
                <a:ea typeface="Avenir Next"/>
                <a:cs typeface="Avenir Next"/>
              </a:rPr>
              <a:t>-0.21%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911187-10D3-47A1-9015-732ACA3A7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80987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B94F4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B94F4F"/>
                </a:solidFill>
                <a:latin typeface="Avenir Next"/>
                <a:ea typeface="Avenir Next"/>
                <a:cs typeface="Avenir Next"/>
              </a:rPr>
              <a:t>-0.44%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D890EF-5863-465B-806F-A339D4C26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Domain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0E3263-B9C4-4447-8F69-333AC01B4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283" y="3162300"/>
            <a:ext cx="898017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6E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D1AC38-0F54-48BC-86B5-3FB20005D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7303" y="3276600"/>
            <a:ext cx="548997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CF6A44-F573-4039-858E-573B34FF4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33725"/>
            <a:ext cx="619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3C6E8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3C6E8F"/>
                </a:solidFill>
                <a:latin typeface="Avenir Next"/>
                <a:ea typeface="Avenir Next"/>
                <a:cs typeface="Avenir Next"/>
              </a:rPr>
              <a:t>-1.75%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C331F8-29DD-4AFE-9AE7-0E14443D1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24802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B94F4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B94F4F"/>
                </a:solidFill>
                <a:latin typeface="Avenir Next"/>
                <a:ea typeface="Avenir Next"/>
                <a:cs typeface="Avenir Next"/>
              </a:rPr>
              <a:t>-1.07%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FDCBFC-2875-4F83-893A-4EAEDFC43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Binning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A79BE8-C996-4DA0-8677-B8B1B1A07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00450"/>
            <a:ext cx="176493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6E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3DE1BD-66B8-4E7F-83A6-F4539D6CA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1102" y="3714750"/>
            <a:ext cx="1295198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002017-C488-4C4A-9E04-BD71A46B0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71875"/>
            <a:ext cx="619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3C6E8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3C6E8F"/>
                </a:solidFill>
                <a:latin typeface="Avenir Next"/>
                <a:ea typeface="Avenir Next"/>
                <a:cs typeface="Avenir Next"/>
              </a:rPr>
              <a:t>+0.34%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F93588-D0FD-4D53-9A61-CB54EF1C1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68617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B94F4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B94F4F"/>
                </a:solidFill>
                <a:latin typeface="Avenir Next"/>
                <a:ea typeface="Avenir Next"/>
                <a:cs typeface="Avenir Next"/>
              </a:rPr>
              <a:t>-2.52%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DD0DE21-5900-4C3E-9753-8F588341F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576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Indicator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27A55BD-1E1B-440E-8AC2-0727D395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6321" y="4038600"/>
            <a:ext cx="1189979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6E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4ED206A-5813-4DA1-9BB2-7B2FC44A9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3919" y="4152900"/>
            <a:ext cx="1462381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3771910-E952-455F-B16E-EC6A27B76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010025"/>
            <a:ext cx="619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3C6E8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3C6E8F"/>
                </a:solidFill>
                <a:latin typeface="Avenir Next"/>
                <a:ea typeface="Avenir Next"/>
                <a:cs typeface="Avenir Next"/>
              </a:rPr>
              <a:t>-2.31%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17AEA5B-B4E6-4209-B0A4-98FE4D18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12432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B94F4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B94F4F"/>
                </a:solidFill>
                <a:latin typeface="Avenir Next"/>
                <a:ea typeface="Avenir Next"/>
                <a:cs typeface="Avenir Next"/>
              </a:rPr>
              <a:t>-2.84%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9C889D8-FE92-461B-A20E-8D35DAAD4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Etkileşim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C38E810-433B-488F-82DF-F59AE2BC6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974" y="4476750"/>
            <a:ext cx="4381326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6E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AFB2E3-B058-49E2-803B-97526FC82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6604" y="4591050"/>
            <a:ext cx="1909696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E1BFD9E-FF56-4BF1-ADD1-F4C2CE8DD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448175"/>
            <a:ext cx="619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3C6E8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3C6E8F"/>
                </a:solidFill>
                <a:latin typeface="Avenir Next"/>
                <a:ea typeface="Avenir Next"/>
                <a:cs typeface="Avenir Next"/>
              </a:rPr>
              <a:t>-8.52%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E07CDFC-983B-4CFC-97CB-7C99C85B9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56247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B94F4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B94F4F"/>
                </a:solidFill>
                <a:latin typeface="Avenir Next"/>
                <a:ea typeface="Avenir Next"/>
                <a:cs typeface="Avenir Next"/>
              </a:rPr>
              <a:t>-3.71%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9893BF9-909B-476A-82F2-A8B60A52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339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Dönüştürme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696E872-07A2-4140-A3E2-37FF6B47A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6840" y="4914900"/>
            <a:ext cx="319946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6E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5DCDF48-946C-41A5-98FC-CDB75FDEB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4314" y="5029200"/>
            <a:ext cx="3761986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AAC4CE2-08F2-471A-B042-A45E76F2F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886325"/>
            <a:ext cx="619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3C6E8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3C6E8F"/>
                </a:solidFill>
                <a:latin typeface="Avenir Next"/>
                <a:ea typeface="Avenir Next"/>
                <a:cs typeface="Avenir Next"/>
              </a:rPr>
              <a:t>-6.22%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8D840F5-FCFF-41D6-8BBE-D14CC0D0B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00062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B94F4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B94F4F"/>
                </a:solidFill>
                <a:latin typeface="Avenir Next"/>
                <a:ea typeface="Avenir Next"/>
                <a:cs typeface="Avenir Next"/>
              </a:rPr>
              <a:t>-7.31%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6A675D9-46A7-4716-9121-F2286013D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81650"/>
            <a:ext cx="685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CACD4C5-97E8-4063-A090-CD06FFE4C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15000"/>
            <a:ext cx="1028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E6C15A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E6C15A"/>
                </a:solidFill>
                <a:latin typeface="Avenir Next"/>
                <a:ea typeface="Avenir Next"/>
                <a:cs typeface="Avenir Next"/>
              </a:rPr>
              <a:t>Karar kuralı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F99FD8F-C48C-4CBC-BFA3-77FBFB8BE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676900"/>
            <a:ext cx="5162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AFAF7"/>
                </a:solidFill>
                <a:latin typeface="Baskerville"/>
                <a:ea typeface="Baskerville"/>
                <a:cs typeface="Baskerville"/>
              </a:defRPr>
            </a:pPr>
            <a:r>
              <a:rPr sz="975" b="1">
                <a:solidFill>
                  <a:srgbClr val="FAFAF7"/>
                </a:solidFill>
                <a:latin typeface="Baskerville"/>
                <a:ea typeface="Baskerville"/>
                <a:cs typeface="Baskerville"/>
              </a:rPr>
              <a:t>RMSE + MAE hem validation hem bağımsız testte düşmeli.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5D91541-FA3F-49DA-A840-0F98A0525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486400"/>
            <a:ext cx="35623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083F586-D41D-4DD6-A0D4-8A9B4BE7C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610225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1F7A63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1F7A63"/>
                </a:solidFill>
                <a:latin typeface="Avenir Next"/>
                <a:ea typeface="Avenir Next"/>
                <a:cs typeface="Avenir Next"/>
              </a:rPr>
              <a:t>Kısmi sinyal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D16372F-8381-435E-8A1F-F26FEEC3D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829300"/>
            <a:ext cx="3143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Domain feature'ları test MAE'yi +6,20% iyileştirdi; RMSE -1,07% kötüleşti.</a:t>
            </a:r>
          </a:p>
        </p:txBody>
      </p:sp>
    </p:spTree>
    <p:extLst>
      <p:ext uri="{BB962C8B-B14F-4D97-AF65-F5344CB8AC3E}">
        <p14:creationId xmlns:p14="http://schemas.microsoft.com/office/powerpoint/2010/main" val="12529550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28F15B7B-DC55-46E7-BD0F-5D2F7CF0F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3-marker">
            <a:extLst xmlns:a="http://schemas.openxmlformats.org/drawingml/2006/main">
              <a:ext uri="{FF2B5EF4-FFF2-40B4-BE49-F238E27FC236}">
                <a16:creationId xmlns:a16="http://schemas.microsoft.com/office/drawing/2014/main" id="{DD921C7B-27B3-4330-B1C2-6FC226618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3-label">
            <a:extLst xmlns:a="http://schemas.openxmlformats.org/drawingml/2006/main">
              <a:ext uri="{FF2B5EF4-FFF2-40B4-BE49-F238E27FC236}">
                <a16:creationId xmlns:a16="http://schemas.microsoft.com/office/drawing/2014/main" id="{A0F20016-01D2-4765-8587-512C9DFE6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06C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6706C"/>
                </a:solidFill>
                <a:latin typeface="Avenir Next"/>
                <a:ea typeface="Avenir Next"/>
                <a:cs typeface="Avenir Next"/>
              </a:rPr>
              <a:t>M O D E L   K A R Ş I L A Ş T I R M A S I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43E35271-C082-4C39-BB4A-0A4EF1437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90575"/>
            <a:ext cx="9620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2022"/>
                </a:solidFill>
                <a:latin typeface="Baskerville"/>
                <a:ea typeface="Baskerville"/>
                <a:cs typeface="Baskerville"/>
              </a:defRPr>
            </a:pPr>
            <a:r>
              <a:rPr sz="2700" b="1">
                <a:solidFill>
                  <a:srgbClr val="152022"/>
                </a:solidFill>
                <a:latin typeface="Baskerville"/>
                <a:ea typeface="Baskerville"/>
                <a:cs typeface="Baskerville"/>
              </a:rPr>
              <a:t>Validation lideri Gradient Boosting, bağımsız testte kararlılığını kaybediyor.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C567A0F-AF1E-4965-A758-F9DE0A82B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5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BCA8E689-C55B-4712-A273-CFD2FB8F3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9906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0" b="0">
                <a:solidFill>
                  <a:srgbClr val="66706C"/>
                </a:solidFill>
                <a:latin typeface="Avenir Next"/>
                <a:ea typeface="Avenir Next"/>
                <a:cs typeface="Avenir Next"/>
              </a:defRPr>
            </a:pPr>
            <a:r>
              <a:rPr sz="570" b="0">
                <a:solidFill>
                  <a:srgbClr val="66706C"/>
                </a:solidFill>
                <a:latin typeface="Avenir Next"/>
                <a:ea typeface="Avenir Next"/>
                <a:cs typeface="Avenir Next"/>
              </a:rPr>
              <a:t>Kaynak: mevcut pipeline ile taze benchmark · train→validation, train+validation→test</a:t>
            </a:r>
          </a:p>
        </p:txBody>
      </p:sp>
      <p:sp>
        <p:nvSpPr>
          <p:cNvPr id="7" name="page-marker">
            <a:extLst xmlns:a="http://schemas.openxmlformats.org/drawingml/2006/main">
              <a:ext uri="{FF2B5EF4-FFF2-40B4-BE49-F238E27FC236}">
                <a16:creationId xmlns:a16="http://schemas.microsoft.com/office/drawing/2014/main" id="{16D1F7E5-8A43-4B9F-A838-760049E22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510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66706C"/>
                </a:solidFill>
                <a:latin typeface="Baskerville"/>
                <a:ea typeface="Baskerville"/>
                <a:cs typeface="Baskerville"/>
              </a:defRPr>
            </a:pPr>
            <a:r>
              <a:rPr sz="788" b="1">
                <a:solidFill>
                  <a:srgbClr val="66706C"/>
                </a:solidFill>
                <a:latin typeface="Baskerville"/>
                <a:ea typeface="Baskerville"/>
                <a:cs typeface="Baskerville"/>
              </a:rPr>
              <a:t>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EA2D4E-80F5-4217-891B-9071975A4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962150"/>
            <a:ext cx="1181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66706C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66706C"/>
                </a:solidFill>
                <a:latin typeface="Avenir Next"/>
                <a:ea typeface="Avenir Next"/>
                <a:cs typeface="Avenir Next"/>
              </a:rPr>
              <a:t>VALIDATION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7AF0FE-C24E-42B4-88FF-11FFC4EC2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62150"/>
            <a:ext cx="1181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66706C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66706C"/>
                </a:solidFill>
                <a:latin typeface="Avenir Next"/>
                <a:ea typeface="Avenir Next"/>
                <a:cs typeface="Avenir Next"/>
              </a:rPr>
              <a:t>TEST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7F9844-2BFE-4AC9-A1F6-4C80CC24F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247900"/>
            <a:ext cx="561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5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E1318A-4C8D-479C-9625-3E705B4DD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71700"/>
            <a:ext cx="400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6706C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66706C"/>
                </a:solidFill>
                <a:latin typeface="Avenir Next"/>
                <a:ea typeface="Avenir Next"/>
                <a:cs typeface="Avenir Next"/>
              </a:rPr>
              <a:t>$24K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B01402-AAEC-4067-84DA-DC08B823D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314700"/>
            <a:ext cx="561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5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E2ED62-514F-420F-8F31-471FD3B58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238500"/>
            <a:ext cx="400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6706C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66706C"/>
                </a:solidFill>
                <a:latin typeface="Avenir Next"/>
                <a:ea typeface="Avenir Next"/>
                <a:cs typeface="Avenir Next"/>
              </a:rPr>
              <a:t>$27K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17FE69-C7BB-423B-BD70-78D779FCA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381500"/>
            <a:ext cx="561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5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B6B03C-006F-45F7-9D5F-8635FF639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305300"/>
            <a:ext cx="400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6706C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66706C"/>
                </a:solidFill>
                <a:latin typeface="Avenir Next"/>
                <a:ea typeface="Avenir Next"/>
                <a:cs typeface="Avenir Next"/>
              </a:rPr>
              <a:t>$30K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830475-47B7-4E28-98A6-6FC35F14F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448300"/>
            <a:ext cx="561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5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CA6F42-87F4-4782-BD76-E6F058B0D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372100"/>
            <a:ext cx="400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6706C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66706C"/>
                </a:solidFill>
                <a:latin typeface="Avenir Next"/>
                <a:ea typeface="Avenir Next"/>
                <a:cs typeface="Avenir Next"/>
              </a:rPr>
              <a:t>$33K</a:t>
            </a:r>
          </a:p>
        </p:txBody>
      </p:sp>
      <p:sp>
        <p:nvSpPr>
          <p:cNvPr id="18" name="model-line-1">
            <a:extLst xmlns:a="http://schemas.openxmlformats.org/drawingml/2006/main">
              <a:ext uri="{FF2B5EF4-FFF2-40B4-BE49-F238E27FC236}">
                <a16:creationId xmlns:a16="http://schemas.microsoft.com/office/drawing/2014/main" id="{230C061C-00D7-4A45-8913-DD63885D5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49728"/>
            <a:ext cx="4286250" cy="1977078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D8794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E905BB-60ED-41D6-B252-DF9009206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92578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A5DFCB-9C35-4F94-9222-786D1FF58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469656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F8D38D-2AAD-4793-8548-A17E29A66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62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7F68AD-6A0A-4896-9E37-ED4448F8D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1657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Gradient Boosting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8752B4-C87A-4C91-B6AE-3DE132A9B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324100"/>
            <a:ext cx="628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D87941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D87941"/>
                </a:solidFill>
                <a:latin typeface="Avenir Next"/>
                <a:ea typeface="Avenir Next"/>
                <a:cs typeface="Avenir Next"/>
              </a:rPr>
              <a:t>$24.8K</a:t>
            </a:r>
          </a:p>
        </p:txBody>
      </p:sp>
      <p:sp>
        <p:nvSpPr>
          <p:cNvPr id="24" name="model-line-2">
            <a:extLst xmlns:a="http://schemas.openxmlformats.org/drawingml/2006/main">
              <a:ext uri="{FF2B5EF4-FFF2-40B4-BE49-F238E27FC236}">
                <a16:creationId xmlns:a16="http://schemas.microsoft.com/office/drawing/2014/main" id="{5220F6F1-9D34-43F1-9772-C3EA1F89D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92253"/>
            <a:ext cx="4286250" cy="36228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8100">
            <a:solidFill>
              <a:srgbClr val="1F7A6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2B7371-C8C1-4AC5-BC29-035CF717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35103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41FEB8-33BC-435C-B9F5-26C861A85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197384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6CC446-FDDC-4EFD-AEB4-786162B41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A8A6BE-9DA0-4BA0-864B-F20F5793F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19400"/>
            <a:ext cx="1657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Elastic Net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66B6E1-F84C-418F-AF39-5E89C7C03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819400"/>
            <a:ext cx="628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1F7A63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1F7A63"/>
                </a:solidFill>
                <a:latin typeface="Avenir Next"/>
                <a:ea typeface="Avenir Next"/>
                <a:cs typeface="Avenir Next"/>
              </a:rPr>
              <a:t>$25.8K</a:t>
            </a:r>
          </a:p>
        </p:txBody>
      </p:sp>
      <p:sp>
        <p:nvSpPr>
          <p:cNvPr id="30" name="model-line-3">
            <a:extLst xmlns:a="http://schemas.openxmlformats.org/drawingml/2006/main">
              <a:ext uri="{FF2B5EF4-FFF2-40B4-BE49-F238E27FC236}">
                <a16:creationId xmlns:a16="http://schemas.microsoft.com/office/drawing/2014/main" id="{9AE12F75-23D7-4C30-904C-31040F13A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61616"/>
            <a:ext cx="4286250" cy="303664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8100">
            <a:solidFill>
              <a:srgbClr val="1F7A6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13A81C4-5DF4-493B-BE5E-C34B2B9BE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904466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E329DFF-5692-4D82-989F-C50A71234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208129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BBFDE3-416F-4A24-B673-882A0627B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20CF475-F5FD-47AC-B998-4204557B4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14700"/>
            <a:ext cx="1657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Ridge Regression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9B89CDA-DD87-470F-8F99-95911A678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314700"/>
            <a:ext cx="628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1F7A63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1F7A63"/>
                </a:solidFill>
                <a:latin typeface="Avenir Next"/>
                <a:ea typeface="Avenir Next"/>
                <a:cs typeface="Avenir Next"/>
              </a:rPr>
              <a:t>$26.0K</a:t>
            </a:r>
          </a:p>
        </p:txBody>
      </p:sp>
      <p:sp>
        <p:nvSpPr>
          <p:cNvPr id="36" name="model-line-4">
            <a:extLst xmlns:a="http://schemas.openxmlformats.org/drawingml/2006/main">
              <a:ext uri="{FF2B5EF4-FFF2-40B4-BE49-F238E27FC236}">
                <a16:creationId xmlns:a16="http://schemas.microsoft.com/office/drawing/2014/main" id="{D3E6108A-608E-4797-A414-12AF58AE1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01369"/>
            <a:ext cx="4286250" cy="2113408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B94F4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7BA7DE3-EE64-4444-856B-C754CFE2B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44219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4F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134C7D1-5422-4540-B60A-47E50B2E1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157627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4F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0E8170F-A8C5-471B-B037-C31792AE8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48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4F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E6FD6CC-1FDA-4087-B370-3726E4A41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0"/>
            <a:ext cx="1657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Random Forest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887D93E-77AA-4A5D-9D2F-5947DFDCE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810000"/>
            <a:ext cx="628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B94F4F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B94F4F"/>
                </a:solidFill>
                <a:latin typeface="Avenir Next"/>
                <a:ea typeface="Avenir Next"/>
                <a:cs typeface="Avenir Next"/>
              </a:rPr>
              <a:t>$26.4K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786139E-0E30-4C65-84B7-3CD9EFBAC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343150"/>
            <a:ext cx="1695450" cy="249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A84F3D6-F745-4CDE-8771-102273A68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571750"/>
            <a:ext cx="1276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AFAF7"/>
                </a:solidFill>
                <a:latin typeface="Baskerville"/>
                <a:ea typeface="Baskerville"/>
                <a:cs typeface="Baskerville"/>
              </a:defRPr>
            </a:pPr>
            <a:r>
              <a:rPr sz="1125" b="1">
                <a:solidFill>
                  <a:srgbClr val="FAFAF7"/>
                </a:solidFill>
                <a:latin typeface="Baskerville"/>
                <a:ea typeface="Baskerville"/>
                <a:cs typeface="Baskerville"/>
              </a:rPr>
              <a:t>GENELLEME</a:t>
            </a:r>
          </a:p>
          <a:p xmlns:a="http://schemas.openxmlformats.org/drawingml/2006/main">
            <a:pPr algn="ctr">
              <a:defRPr sz="1125" b="1">
                <a:solidFill>
                  <a:srgbClr val="FAFAF7"/>
                </a:solidFill>
                <a:latin typeface="Baskerville"/>
                <a:ea typeface="Baskerville"/>
                <a:cs typeface="Baskerville"/>
              </a:defRPr>
            </a:pPr>
            <a:r>
              <a:rPr sz="1125" b="1">
                <a:solidFill>
                  <a:srgbClr val="FAFAF7"/>
                </a:solidFill>
                <a:latin typeface="Baskerville"/>
                <a:ea typeface="Baskerville"/>
                <a:cs typeface="Baskerville"/>
              </a:rPr>
              <a:t>FARKI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4EC2D7F-0805-4C6E-81ED-C5E7849E3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257550"/>
            <a:ext cx="666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AEBAB7"/>
                </a:solidFill>
                <a:latin typeface="Avenir Next"/>
                <a:ea typeface="Avenir Next"/>
                <a:cs typeface="Avenir Next"/>
              </a:defRPr>
            </a:pPr>
            <a:r>
              <a:rPr sz="585" b="0">
                <a:solidFill>
                  <a:srgbClr val="AEBAB7"/>
                </a:solidFill>
                <a:latin typeface="Avenir Next"/>
                <a:ea typeface="Avenir Next"/>
                <a:cs typeface="Avenir Next"/>
              </a:rPr>
              <a:t>Ridge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C87E3E4-C067-470B-9617-41851F6F1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2385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15" b="1">
                <a:solidFill>
                  <a:srgbClr val="FAFAF7"/>
                </a:solidFill>
                <a:latin typeface="Avenir Next"/>
                <a:ea typeface="Avenir Next"/>
                <a:cs typeface="Avenir Next"/>
              </a:defRPr>
            </a:pPr>
            <a:r>
              <a:rPr sz="615" b="1">
                <a:solidFill>
                  <a:srgbClr val="FAFAF7"/>
                </a:solidFill>
                <a:latin typeface="Avenir Next"/>
                <a:ea typeface="Avenir Next"/>
                <a:cs typeface="Avenir Next"/>
              </a:rPr>
              <a:t>$26.9K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D57A9D4-EA26-423C-83E9-2A1C4CA9D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23850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63" b="1">
                <a:solidFill>
                  <a:srgbClr val="66B99D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66B99D"/>
                </a:solidFill>
                <a:latin typeface="Avenir Next"/>
                <a:ea typeface="Avenir Next"/>
                <a:cs typeface="Avenir Next"/>
              </a:rPr>
              <a:t>+$0.9K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657381C-AFEA-4C5A-82FC-AB52A344B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600450"/>
            <a:ext cx="666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AEBAB7"/>
                </a:solidFill>
                <a:latin typeface="Avenir Next"/>
                <a:ea typeface="Avenir Next"/>
                <a:cs typeface="Avenir Next"/>
              </a:defRPr>
            </a:pPr>
            <a:r>
              <a:rPr sz="585" b="0">
                <a:solidFill>
                  <a:srgbClr val="AEBAB7"/>
                </a:solidFill>
                <a:latin typeface="Avenir Next"/>
                <a:ea typeface="Avenir Next"/>
                <a:cs typeface="Avenir Next"/>
              </a:rPr>
              <a:t>Elastic Net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04DDBE5-E900-413A-B8B6-CE9116EA4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5814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15" b="1">
                <a:solidFill>
                  <a:srgbClr val="FAFAF7"/>
                </a:solidFill>
                <a:latin typeface="Avenir Next"/>
                <a:ea typeface="Avenir Next"/>
                <a:cs typeface="Avenir Next"/>
              </a:defRPr>
            </a:pPr>
            <a:r>
              <a:rPr sz="615" b="1">
                <a:solidFill>
                  <a:srgbClr val="FAFAF7"/>
                </a:solidFill>
                <a:latin typeface="Avenir Next"/>
                <a:ea typeface="Avenir Next"/>
                <a:cs typeface="Avenir Next"/>
              </a:rPr>
              <a:t>$26.8K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DE5C5CA-9683-4895-B744-437F74585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58140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63" b="1">
                <a:solidFill>
                  <a:srgbClr val="66B99D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66B99D"/>
                </a:solidFill>
                <a:latin typeface="Avenir Next"/>
                <a:ea typeface="Avenir Next"/>
                <a:cs typeface="Avenir Next"/>
              </a:rPr>
              <a:t>+$1.0K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144DE3A-E0F5-4473-9D5E-1822B0F50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943350"/>
            <a:ext cx="666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AEBAB7"/>
                </a:solidFill>
                <a:latin typeface="Avenir Next"/>
                <a:ea typeface="Avenir Next"/>
                <a:cs typeface="Avenir Next"/>
              </a:defRPr>
            </a:pPr>
            <a:r>
              <a:rPr sz="585" b="0">
                <a:solidFill>
                  <a:srgbClr val="AEBAB7"/>
                </a:solidFill>
                <a:latin typeface="Avenir Next"/>
                <a:ea typeface="Avenir Next"/>
                <a:cs typeface="Avenir Next"/>
              </a:rPr>
              <a:t>Gradient Boosting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80BC2EA-523E-4774-9EB8-D93A4452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9243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15" b="1">
                <a:solidFill>
                  <a:srgbClr val="FAFAF7"/>
                </a:solidFill>
                <a:latin typeface="Avenir Next"/>
                <a:ea typeface="Avenir Next"/>
                <a:cs typeface="Avenir Next"/>
              </a:defRPr>
            </a:pPr>
            <a:r>
              <a:rPr sz="615" b="1">
                <a:solidFill>
                  <a:srgbClr val="FAFAF7"/>
                </a:solidFill>
                <a:latin typeface="Avenir Next"/>
                <a:ea typeface="Avenir Next"/>
                <a:cs typeface="Avenir Next"/>
              </a:rPr>
              <a:t>$30.4K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89A1706-1E6E-4068-B883-99E2C9949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92430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63" b="1">
                <a:solidFill>
                  <a:srgbClr val="D87941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D87941"/>
                </a:solidFill>
                <a:latin typeface="Avenir Next"/>
                <a:ea typeface="Avenir Next"/>
                <a:cs typeface="Avenir Next"/>
              </a:rPr>
              <a:t>+$5.6K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1BA5A56-40F3-4657-8EAB-8CE26743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286250"/>
            <a:ext cx="666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AEBAB7"/>
                </a:solidFill>
                <a:latin typeface="Avenir Next"/>
                <a:ea typeface="Avenir Next"/>
                <a:cs typeface="Avenir Next"/>
              </a:defRPr>
            </a:pPr>
            <a:r>
              <a:rPr sz="585" b="0">
                <a:solidFill>
                  <a:srgbClr val="AEBAB7"/>
                </a:solidFill>
                <a:latin typeface="Avenir Next"/>
                <a:ea typeface="Avenir Next"/>
                <a:cs typeface="Avenir Next"/>
              </a:rPr>
              <a:t>Random Forest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51539C6-1DF3-4802-85FD-2A92446F1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2672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15" b="1">
                <a:solidFill>
                  <a:srgbClr val="FAFAF7"/>
                </a:solidFill>
                <a:latin typeface="Avenir Next"/>
                <a:ea typeface="Avenir Next"/>
                <a:cs typeface="Avenir Next"/>
              </a:defRPr>
            </a:pPr>
            <a:r>
              <a:rPr sz="615" b="1">
                <a:solidFill>
                  <a:srgbClr val="FAFAF7"/>
                </a:solidFill>
                <a:latin typeface="Avenir Next"/>
                <a:ea typeface="Avenir Next"/>
                <a:cs typeface="Avenir Next"/>
              </a:rPr>
              <a:t>$32.3K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30B61B1-8D66-4B3C-99EC-E497B959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26720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63" b="1">
                <a:solidFill>
                  <a:srgbClr val="D87941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D87941"/>
                </a:solidFill>
                <a:latin typeface="Avenir Next"/>
                <a:ea typeface="Avenir Next"/>
                <a:cs typeface="Avenir Next"/>
              </a:rPr>
              <a:t>+$5.9K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0BAC6C7-712B-41B5-BAE8-1EABF6995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143500"/>
            <a:ext cx="18859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66706C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6706C"/>
                </a:solidFill>
                <a:latin typeface="Avenir Next"/>
                <a:ea typeface="Avenir Next"/>
                <a:cs typeface="Avenir Next"/>
              </a:rPr>
              <a:t>Elastic Net test RMSE'de Ridge'den yalnızca ~$30 daha iyi; fark operasyonel olarak ihmal edilebilir.</a:t>
            </a:r>
          </a:p>
        </p:txBody>
      </p:sp>
    </p:spTree>
    <p:extLst>
      <p:ext uri="{BB962C8B-B14F-4D97-AF65-F5344CB8AC3E}">
        <p14:creationId xmlns:p14="http://schemas.microsoft.com/office/powerpoint/2010/main" val="176515953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B5B77488-DC44-43C9-BE3E-2481C6C2C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4-marker">
            <a:extLst xmlns:a="http://schemas.openxmlformats.org/drawingml/2006/main">
              <a:ext uri="{FF2B5EF4-FFF2-40B4-BE49-F238E27FC236}">
                <a16:creationId xmlns:a16="http://schemas.microsoft.com/office/drawing/2014/main" id="{052397E8-2804-47C3-A2BD-878F30713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4-label">
            <a:extLst xmlns:a="http://schemas.openxmlformats.org/drawingml/2006/main">
              <a:ext uri="{FF2B5EF4-FFF2-40B4-BE49-F238E27FC236}">
                <a16:creationId xmlns:a16="http://schemas.microsoft.com/office/drawing/2014/main" id="{F408E6AB-047F-4D15-AB0B-E2AC2FE28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06C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6706C"/>
                </a:solidFill>
                <a:latin typeface="Avenir Next"/>
                <a:ea typeface="Avenir Next"/>
                <a:cs typeface="Avenir Next"/>
              </a:rPr>
              <a:t>H A T A   A N A L I Z I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83E8AA65-57F3-4FAF-8B4D-F2177AF5B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90575"/>
            <a:ext cx="9620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2022"/>
                </a:solidFill>
                <a:latin typeface="Baskerville"/>
                <a:ea typeface="Baskerville"/>
                <a:cs typeface="Baskerville"/>
              </a:defRPr>
            </a:pPr>
            <a:r>
              <a:rPr sz="2700" b="1">
                <a:solidFill>
                  <a:srgbClr val="152022"/>
                </a:solidFill>
                <a:latin typeface="Baskerville"/>
                <a:ea typeface="Baskerville"/>
                <a:cs typeface="Baskerville"/>
              </a:rPr>
              <a:t>Ridge hatası pahalı evlerde yoğunlaşıyor; üst çeyrek MAE $29.5K.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219ECD9-21A1-46E1-8945-19744348B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5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363F735C-7D7C-4E29-ABF7-39BCAD23C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9906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0" b="0">
                <a:solidFill>
                  <a:srgbClr val="66706C"/>
                </a:solidFill>
                <a:latin typeface="Avenir Next"/>
                <a:ea typeface="Avenir Next"/>
                <a:cs typeface="Avenir Next"/>
              </a:defRPr>
            </a:pPr>
            <a:r>
              <a:rPr sz="570" b="0">
                <a:solidFill>
                  <a:srgbClr val="66706C"/>
                </a:solidFill>
                <a:latin typeface="Avenir Next"/>
                <a:ea typeface="Avenir Next"/>
                <a:cs typeface="Avenir Next"/>
              </a:rPr>
              <a:t>Kaynak: taze Ridge validation tahminleri · residual = actual − prediction</a:t>
            </a:r>
          </a:p>
        </p:txBody>
      </p:sp>
      <p:sp>
        <p:nvSpPr>
          <p:cNvPr id="7" name="page-marker">
            <a:extLst xmlns:a="http://schemas.openxmlformats.org/drawingml/2006/main">
              <a:ext uri="{FF2B5EF4-FFF2-40B4-BE49-F238E27FC236}">
                <a16:creationId xmlns:a16="http://schemas.microsoft.com/office/drawing/2014/main" id="{FD201C29-1C54-4177-86F1-8B379097A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510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66706C"/>
                </a:solidFill>
                <a:latin typeface="Baskerville"/>
                <a:ea typeface="Baskerville"/>
                <a:cs typeface="Baskerville"/>
              </a:defRPr>
            </a:pPr>
            <a:r>
              <a:rPr sz="788" b="1">
                <a:solidFill>
                  <a:srgbClr val="66706C"/>
                </a:solidFill>
                <a:latin typeface="Baskerville"/>
                <a:ea typeface="Baskerville"/>
                <a:cs typeface="Baskerville"/>
              </a:rPr>
              <a:t>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5DC7A7-7559-4839-B89F-9308DE158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68580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63453E-CA55-4F75-873C-723FD899E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52925"/>
            <a:ext cx="685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C8D8EE-9181-46E2-AD5F-71E6B9900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7856" y="425886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BA5FC6-ABFF-4A54-B722-AB34F427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1306" y="4197183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056EB7-1509-476D-8783-56E1FBFA6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582" y="42856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28AD95-67A8-4A2D-B848-B0FEB19D3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8132" y="422895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23F559-5057-4243-BF38-1E506CC22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418" y="4406419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128A6C-A014-469A-A64B-C1150B886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413" y="4480791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D6CD86-23D6-4A3F-B142-1C92E4C20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651" y="4406612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B1F4C5-9542-421C-AF77-75573F94C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902" y="4314382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929FA1-5433-49E9-B0AB-3C68D19C6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7190" y="3976701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E0D20A-BC2A-4C2C-991A-42845B7A1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9190" y="4011857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6B4137-3459-46C1-9C1F-69DE7A25D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5041" y="3811523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2D1E7C-0DE6-473B-A680-95F2499AF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7359" y="4670226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D882BE-1D5E-4647-99CF-DB3492BC5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0989" y="399668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1AC26A-B358-4D8F-A32E-4A0E22A71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651" y="457673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D709B1-AF57-4A88-AA37-2BD472479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6757" y="434329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A0AC39-1034-49D0-A1E0-CB2FB6E32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783" y="3751863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67E18A-0CA3-43ED-9003-CB5ED6FB5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434" y="4286542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85673F-A325-41FD-8E51-F6DB22CD4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1794" y="4283217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DFE962-1DAA-45DE-B3C0-185C2B14B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2428" y="3952467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736247-D901-483B-A119-6283B83CA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1656" y="441804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B5CCF2-DEB6-4CF6-9C8F-F6A8E48BB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972" y="3879871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AC6B15-869E-4E38-B287-11580E8E7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4608613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1FD96D4-A05D-4878-8B80-D374087D8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0534" y="3671011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E388D0-E973-4E14-94BC-04C967F8C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5529" y="4456719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A42313E-FA90-4E10-A265-59261EF4C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1444" y="4287449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3ED9E73-5CF5-4ABD-988D-1F43607BE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1729" y="4156346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08EA8EF-E552-4F74-8483-5911FF741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8344" y="4300387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58A6B57-A4F7-47F9-9F7B-4AFB0A49C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4804" y="4251879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47E5F22-B993-4E74-B509-F16BBC1AC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3901" y="447629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CBEF63F-FC39-45A8-A8EF-1CDE757D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207" y="4392129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28C1CF2-7CFA-4E92-BC54-18CA097C2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5390" y="4205032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4559B1-8BAE-41A0-AE0A-728160E09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683" y="4543003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E5C7544-3577-4DFB-9082-5B6B475E4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8026" y="4201507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F55E787-16D3-4B05-97DB-03EFFD305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4312" y="3531692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ACF9643-9E94-4E9D-B301-356FCF899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7140" y="427065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28EFD06-D4C6-4CA3-97B6-C99671D97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5740" y="417568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850BB40-5A3D-4910-BC7A-ACA61CF4A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481" y="4372097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C9E96B0-956D-4A2E-82CD-6E6FE209F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460" y="4263379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F789173-A221-424F-A41A-402E7721C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9687" y="410774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5DF520B-3D22-486D-B41F-2201EE7E5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0037" y="4450456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89245F1-5642-4717-A734-9746E2D5F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7709" y="4487842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878F162-929D-4723-BFA1-C7009A091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725604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751A80C-67A8-4387-94C4-B0D99D4BC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587" y="425273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421E756-F22E-42AE-B8A4-421C2C1B0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2640" y="4207112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F053019-49C3-48E8-96A9-1666C973B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9402" y="460960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B853C72-C216-47C5-883B-2D5B269A5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422" y="4404354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184D000-501D-4184-888F-4A312E768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9867" y="461266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7650E6D-D54B-4033-855F-92C482FED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7074" y="430010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E9F2EF2-57CB-4921-9F1B-6AB199A22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8767" y="4356072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21550A4-FF64-4266-B1F6-4DCD4B1C8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482" y="4416376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4E93D71-B9D9-4ABF-BD59-561F84A46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0110" y="4189174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EF65CB5-5B29-4736-AD8F-C6F93D03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947" y="396855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E12C4E8-F3F6-431D-B533-C508C48EB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3666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3B03091-0489-46DF-B6A6-80C34C78C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0322" y="4222799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3887A35-E898-472A-8A28-C4C1DB77E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9540" y="4150567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95D89FB-55A3-4127-BD27-E3FFA41BD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9437" y="40943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EB1503E-DF54-4234-AE6D-3CA2B990F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8621" y="4495122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BA92055-AC9F-49FD-BBD5-30E8F3D2E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957" y="4327522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509353F-F44C-4A0A-A6AC-86254202E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2714" y="4081503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40AC3D4-9AAB-4A29-9805-8882F51F2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005" y="4103839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8EEEF0F-AA14-404D-91C4-03B4DC659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9646" y="4321523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170DDAD-B894-4928-878F-53AC9B50D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7709" y="4340281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419628A-B67C-4FAB-B095-2076C6456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593" y="4480866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0980AD9-50D3-4042-8934-B30605688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7848" y="445509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5CADF64-357D-46AD-84F4-55EE7B23D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3476" y="4055927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EE70DF1-76D1-4C47-BF56-22EFE7C3D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4121" y="420331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DC1B229-CF02-4650-B3BE-47C896A56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1354" y="4253654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8B34393-EC69-44AA-BD47-E279EAFF9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783" y="458819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2F2E9C3-172D-4159-8BFB-A05B01B3F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942" y="4260897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A3C4DAD-4435-482D-AAB8-09AACF999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0332" y="5095684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C2C6930-FCE8-4D1C-AEDD-059B15636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5037" y="4075303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86981283-0695-40DB-8CDD-8B770E6B7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312" y="4171754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BCF60E8-A52F-4832-A03F-6B3A2EA22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582" y="4418413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498502F8-5101-4107-A7D4-A775F15BC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7497" y="4194207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E559C19-A016-41D9-A6BC-6F75C68CE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0115" y="4135793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7E49196-A10A-404D-AD3D-58566A526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2925" y="419241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03C81A1-0F3D-44E9-8F01-9745DA05B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5383" y="428322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D34A3DD-C766-4E77-837A-8367C913D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635" y="4170226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86F608D7-594D-474C-966E-6D7B1A4FF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7497" y="4356159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77CC221E-06A8-498B-998C-7C29F2828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310" y="2296509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45FED1F-7733-4993-8BCE-6854B5711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8979" y="4213151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D3788A1F-5954-4429-88C9-536DC7147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5529" y="4348893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C0328C51-DE38-48DF-8B8A-BE703116B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1518" y="4260142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A17B804B-963E-4DE1-AA2F-185D6C37D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6301" y="4058716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55CEACD9-72DD-4BF5-9917-B039595F4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942" y="4334226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7F89BDC-EB43-496B-B6C6-A592F18DD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264" y="4156456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1D06B00-921F-4C8E-ADE2-CFB0AC826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4480" y="4323893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2B34130-5CD5-4EC3-BB50-66ED64956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2364" y="4344292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28FB7577-219F-4227-82D9-F557CBECC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8621" y="4162419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86872F63-7A9C-412C-BA6A-5607245FE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820" y="4576987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5FA5B9EA-5992-4C24-94A6-1EC46B75E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0525" y="4036771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48668FB-89BA-4263-BA94-FB0D4F716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1729" y="4080742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3E66B138-37D4-439F-8B3D-89604E48F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021" y="438546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C6F7BF79-D319-4C0A-B7F5-8F91E1ECA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603" y="448358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36BEFD7C-05B7-41A4-B8D1-3FE1508B8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0492" y="4401064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174005ED-C4FE-4F2A-B8F1-97D337F6E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5538" y="4739891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3D9A24B1-CEE3-4200-9D29-E32260332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2989" y="420828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FAF48DDD-2659-4494-9BB0-5E0E301FC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3846" y="4190373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023515D1-082F-445B-B231-4DC44AC4E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551" y="44379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2A0BA337-EA0F-4859-A5CC-4B4A4C9B1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9772" y="3805991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CC6AF72C-C61D-4497-99B4-0B201462B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5455" y="4424472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69E42C2F-6E02-43EC-B4A0-8E9068787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264" y="4627503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1D426F74-3BE5-4EFA-8C5E-4AA40925D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8183" y="3386816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6B8C8E1B-3CF8-4422-82A7-2C582DEFC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4894" y="4541333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5F100EBB-66FB-4403-9B9F-DF6F2C3D4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5106" y="4295757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D58DDE61-6FBC-4AE1-A89B-624B7A657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0174" y="4297484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7AEE3475-67F7-478E-ACEC-32F0DE9B5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41" y="4395647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619DE976-9FA9-4185-A98F-7338A23D5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2640" y="4243169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2761FAD0-6343-4F18-A285-BD9886064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7571" y="4574947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2136FE36-D5FA-4208-B39C-48A7FB6E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6090" y="4077242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A1A55752-5F91-41EA-B2CC-E67816E21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84" y="417089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E8455B25-7FBD-444B-B823-5948790DB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629" y="4183942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E640E27A-9BD3-4426-9035-B1DD6C877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0598" y="453502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5CE9E4C4-4893-46F0-AF20-F6B00E38F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552" y="418287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D0ED699E-040B-4C0A-BDD7-BA2DC9514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1168" y="3812241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4801D287-1DAE-45AF-8440-597A35875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6863" y="4273037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CA589244-CCAF-4AAB-92A8-34528A9AC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1518" y="4601489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6B5D3673-B204-4D38-B607-002AC5B72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0142" y="468338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816900D4-9A73-4EE7-8097-0256BE3B2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1656" y="4516076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461C4B84-8AF2-4AB9-BF30-7F94C5E8B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3137" y="4177921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9DA35EA2-B8AF-49B7-A0BE-D2A723DBB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995" y="4310873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A275080A-018F-47D9-B994-E33595D02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777" y="4517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769B0AF4-8CDE-4FBE-A34D-02DCC437D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2364" y="4065213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F88AF496-047C-4C8A-AE42-3830B31BF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9442" y="443647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C6C48265-2C14-410F-BC66-D8AF192ED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3063" y="4132286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51242BEE-1AFC-4195-BDF6-5ADDC9F55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899" y="4351949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3D591705-DDD2-4768-A700-CF87BF5F4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783" y="4656681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01608399-E38A-4883-B494-625E6DB7C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6538" y="4333767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EF87177E-30D7-4F27-9C60-BADFDB740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8344" y="4382554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C142E432-211F-4F88-BE4C-25E611EAA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658" y="4176659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50310690-0172-4000-9219-068784656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6775" y="430668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ABB8BFBF-B3CB-4423-ACA4-C76053F40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4057" y="3817676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A8FB451E-9A19-44E1-AA91-9752830F0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586" y="3816674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4FA0DF2D-6629-4CD2-AAAB-987B8AD40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1306" y="4335319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3F1754A2-960A-493F-B126-A4654B2B9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6019" y="4201737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5DD50F4C-F499-4A09-A949-DC56E569B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9402" y="4209533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339B4A54-D05D-496F-9BF3-0AC104100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3201" y="403117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7C500E63-48AF-4649-8581-1B317EBE4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838" y="4340401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50B42EF9-700A-4644-9829-CEEB37FFB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3201" y="4245983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E313CD11-9AB5-4547-AFA3-FF1F5B4F4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418" y="4788647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CB4E9F78-D783-4BF3-BEC8-3197F07FE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778" y="386415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11492063-8F47-4B63-B481-67FDE2837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3837" y="420714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229F25B2-DFD4-412B-B2B0-138DFDB8F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955" y="4376771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D15CC9EC-D7B6-465A-8404-399EDF1D5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0989" y="388453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043AD813-1A4F-4FE5-B2C3-5A3BBD1EB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4333" y="4601696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0F9EF6EA-412D-4E18-B997-B2CA50820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841" y="4089216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BEF88943-B7BA-41B1-B60A-C199F0469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1160" y="4205584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0355754A-CDF7-4D68-91FE-07310F8E8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058" y="4360073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988104B5-0C1B-46C0-8358-CFE27BF72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550" y="4408773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18E01271-DCBF-4442-8D9F-853350BC7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143" y="4247153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5941AD21-6998-4085-9F87-3837D1DCB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8344" y="4095313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A88D78C4-DD48-4101-9B92-DF1FA704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9190" y="4001676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9AA20CB5-3D15-477B-8F87-49EEDEBD7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4471" y="4143169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F30267B2-38DE-4ADD-87F0-D86F56486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338" y="3935726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00CECEBC-0F1B-40D0-B5B5-C0AFC824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3286" y="423499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20BA86A6-D716-42B3-8CD4-7A3B85B1F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714" y="4664563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37164B06-E5DB-4BC0-878F-FD85CAD52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07" y="4096801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32E78267-DDED-46EF-94EC-4E422185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676" y="393929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EAA6812A-7D8D-47E5-AD0D-F3DF80AAD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217" y="428244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D1433909-B477-47D5-B25A-556F6ECBC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572" y="455151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F230F04C-396E-46B7-977A-E97711203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8767" y="419034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F1EDB97E-87B8-41BA-9175-05A1406FF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8132" y="4353186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0F3EF78E-452F-4554-9DD4-6BFF5F311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0469" y="409653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5F9FC75C-8DF2-474A-ABFB-BF1F50FBF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7074" y="4294023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0F5EB3F5-C4BD-40BE-8684-C97181C47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0405" y="3650266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892DBA00-3E22-4E26-B08B-252F4B4B8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5243" y="4501383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AD13FDE9-C11B-45CF-8FEB-090360EA6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5814" y="3955616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9E3E0844-87DF-4468-A6C5-4E798DCC8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8136" y="4035416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FB9C999F-1199-4506-8749-E00D9914D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217" y="4313414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D2E526BA-C705-45E8-8747-14007DD11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7815" y="4276673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CED79140-832E-4F16-AE84-D4EF71843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1233" y="3918477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B87C427F-6BC3-4362-9D37-CBCECFD73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6090" y="4653742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A1A166D4-B8BC-4445-820B-DCA8FD9BA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876" y="3947784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CE5A7338-C909-40BA-A4F8-36AB00AC6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6693" y="4151737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CB423F53-F6CC-4F7A-BA45-B9F33717B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6725" y="4283581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4754F2E9-6DAF-4011-9E49-DC7B5CC18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7815" y="4239629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FE1C4E6E-4D23-4385-AEC8-DA45FD92A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6375" y="434231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51C9BA44-9D03-4F60-AB66-400983BD6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0322" y="4250916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4E2DFBC0-ABE7-4990-8822-F917587D6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0598" y="459040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52EEDC20-B94F-4E4E-B0B8-08147A1BA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2940" y="41496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0B65D2B6-7725-48CB-93DF-D9F33A102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6725" y="4895477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99EA1F62-5E30-488A-BC92-7C563B4A3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3063" y="4372053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12B862B1-1610-4378-BE58-605ECDF5E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0638" y="4178773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C1BEA601-8D7A-4267-A8AC-3BABBD64F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4544" y="4510134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B54B0958-8676-41FC-BCBC-D95B6E2F1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8523" y="4230123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D2503D5A-D4CB-4A27-93A7-D176BD8B6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476" y="4375049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5617C748-64B8-4949-85B6-FE1C8624C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2428" y="389345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C5DB1C59-B840-4C61-9811-31E099EE5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939" y="436076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390DE066-4907-4E38-9E80-023199715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8100" y="4424501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D34E1DD1-5BDF-43CF-9C05-6EAA1AF6B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910" y="441055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4B6D2E28-AF15-4375-98A5-0A455FBAB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9296" y="4351062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58828FB8-4909-421C-A837-2255FFCDC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994" y="446886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C270DA1C-8F28-45A1-87F5-7EB0A93AA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820" y="4296929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6920A0E2-0F01-4BE8-BA1F-C78DFB150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7815" y="4427319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57A3E3EB-1CAC-4FAA-807A-7362F24E5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8132" y="4356841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63CF0A42-A7A0-4201-8839-399EFB53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6936" y="4220184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168120BA-C2CD-4440-B79C-3A4825EC8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5944" y="469975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BA3A0C58-7DBC-4B5F-B685-479D540F7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0671" y="432016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D0BEB9D6-7EB5-4587-A9A8-65E03AB87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3031" y="4201981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38B44880-E913-4AD1-804D-7671815DD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635" y="4466663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32BFB44E-65EC-4052-9ACE-9C004A35B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651" y="4329961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F45E9842-A632-4276-9221-9B7EF710F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7921" y="4088447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B5BDBF76-C14C-4866-B859-C0628DC46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5106" y="4177917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2045DAA0-D3FB-49A9-81DF-4D99BC376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535" y="4595441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53228087-B055-4986-B0FC-EB2CFB9D5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053" y="4239751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CA6FB0E3-8B4F-478F-9E7F-E15D43C18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624" y="452244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0B25BD4E-BF43-4F6A-9090-E6E08803E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2201" y="4084922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1E4AE242-B60E-4A75-8522-E32B0892C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0142" y="5061584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B3D0D442-D92F-47D0-8610-0C97C91AC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2004" y="4460374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221082F7-88F8-40AE-9CB7-28B318EEB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8979" y="4387319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B4883DD6-E80B-447E-A0C1-23501069B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603" y="4193889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0D2E6C44-9EFC-4861-B3D4-5294BDB7B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9281" y="4440329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C58D3B04-50D8-4753-920B-A0E92578B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084" y="4101067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5AD53164-E9C9-49A3-8422-4E51BEF18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8353" y="470288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E8412DE2-8894-4D1F-95D8-572C9AD97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413" y="4321114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847A080E-A731-4F0F-BB2E-59C02C869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2989" y="435681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4606CDA1-E65E-4067-A75C-696219B70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962" y="3963736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59193790-977B-4C80-A290-7A7D5EC76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931" y="4436837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BA1F8166-A5E3-4271-B81B-AF6965307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57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06C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6706C"/>
                </a:solidFill>
                <a:latin typeface="Avenir Next"/>
                <a:ea typeface="Avenir Next"/>
                <a:cs typeface="Avenir Next"/>
              </a:rPr>
              <a:t>$40K</a:t>
            </a:r>
          </a:p>
        </p:txBody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8CBFD3A1-3EBF-47EF-95A4-E03B66E68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619750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66706C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6706C"/>
                </a:solidFill>
                <a:latin typeface="Avenir Next"/>
                <a:ea typeface="Avenir Next"/>
                <a:cs typeface="Avenir Next"/>
              </a:rPr>
              <a:t>$600K+</a:t>
            </a:r>
          </a:p>
        </p:txBody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7C68AF81-0C54-4E8C-9BB7-979959CCB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61975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66706C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66706C"/>
                </a:solidFill>
                <a:latin typeface="Avenir Next"/>
                <a:ea typeface="Avenir Next"/>
                <a:cs typeface="Avenir Next"/>
              </a:rPr>
              <a:t>Gerçek fiyat</a:t>
            </a:r>
          </a:p>
        </p:txBody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A5E9409B-5970-4D8D-B8AB-0A47F2786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2514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B94F4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B94F4F"/>
                </a:solidFill>
                <a:latin typeface="Avenir Next"/>
                <a:ea typeface="Avenir Next"/>
                <a:cs typeface="Avenir Next"/>
              </a:rPr>
              <a:t>Pozitif residual = model düşük tahmin ediyor</a:t>
            </a:r>
          </a:p>
        </p:txBody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92F55F10-7D2D-45EC-B1EA-47D21C704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14550"/>
            <a:ext cx="3009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Fiyat bandına göre MAE</a:t>
            </a:r>
          </a:p>
        </p:txBody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3A593DD7-A0BD-4CDB-956C-F187BFB53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71750"/>
            <a:ext cx="1009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Alt %25</a:t>
            </a:r>
          </a:p>
        </p:txBody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8CD44B55-5670-4734-B923-6CDAED662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600325"/>
            <a:ext cx="1924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3DD45934-9D13-4515-89EE-A5FBF596B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600325"/>
            <a:ext cx="76339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6E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88B0D8A3-C4BD-4C3C-8ABB-D1D13B50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255270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$11.7K</a:t>
            </a:r>
          </a:p>
        </p:txBody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8C1E5206-90CF-49CE-84D8-326705CB2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800350"/>
            <a:ext cx="1924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6706C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66706C"/>
                </a:solidFill>
                <a:latin typeface="Avenir Next"/>
                <a:ea typeface="Avenir Next"/>
                <a:cs typeface="Avenir Next"/>
              </a:rPr>
              <a:t>bias $-3.2K</a:t>
            </a:r>
          </a:p>
        </p:txBody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6A50F4A8-79EF-44A2-B189-B6789799F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219450"/>
            <a:ext cx="1009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Orta-alt</a:t>
            </a:r>
          </a:p>
        </p:txBody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E45EC0BF-78C8-4A13-9728-C5DC0A071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248025"/>
            <a:ext cx="1924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77AB124D-6B53-4C68-9F77-404ABB7E6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248025"/>
            <a:ext cx="73431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6E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03442E69-5FD9-46E5-8553-8BC43CF0B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20040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$11.3K</a:t>
            </a:r>
          </a:p>
        </p:txBody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CB2CB06A-4425-4391-A579-8A4DBC71B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448050"/>
            <a:ext cx="1924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6706C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66706C"/>
                </a:solidFill>
                <a:latin typeface="Avenir Next"/>
                <a:ea typeface="Avenir Next"/>
                <a:cs typeface="Avenir Next"/>
              </a:rPr>
              <a:t>bias +$1.8K</a:t>
            </a:r>
          </a:p>
        </p:txBody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B92627B7-5EE5-4D8A-AE89-2481C3B9E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67150"/>
            <a:ext cx="1009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Orta-üst</a:t>
            </a:r>
          </a:p>
        </p:txBody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AAF764D3-0023-414A-858E-06F278FAF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895725"/>
            <a:ext cx="1924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585DD3F3-C1D0-4D15-B12B-E36FCFBF2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895725"/>
            <a:ext cx="105961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6E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6A6785EB-3E3F-46F2-9340-449203A81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84810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$16.2K</a:t>
            </a:r>
          </a:p>
        </p:txBody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A8F338F5-33A2-41EF-8BF4-44F066DB8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095750"/>
            <a:ext cx="1924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6706C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66706C"/>
                </a:solidFill>
                <a:latin typeface="Avenir Next"/>
                <a:ea typeface="Avenir Next"/>
                <a:cs typeface="Avenir Next"/>
              </a:rPr>
              <a:t>bias $-1.0K</a:t>
            </a:r>
          </a:p>
        </p:txBody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8B9D795E-36DD-4B8D-9E1E-44277326D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14850"/>
            <a:ext cx="1009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Üst %25</a:t>
            </a:r>
          </a:p>
        </p:txBody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F6CF6112-7E8A-49D7-8095-B10E17031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543425"/>
            <a:ext cx="1924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5A7D6BA7-DA0E-498E-AAA3-926A99DDA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543425"/>
            <a:ext cx="1924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47E333EC-C4BF-48C8-B3FD-C69635B5A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49580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B94F4F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B94F4F"/>
                </a:solidFill>
                <a:latin typeface="Avenir Next"/>
                <a:ea typeface="Avenir Next"/>
                <a:cs typeface="Avenir Next"/>
              </a:rPr>
              <a:t>$29.5K</a:t>
            </a:r>
          </a:p>
        </p:txBody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CE68295A-F6FD-4402-9CA4-8867B614F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743450"/>
            <a:ext cx="1924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6706C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66706C"/>
                </a:solidFill>
                <a:latin typeface="Avenir Next"/>
                <a:ea typeface="Avenir Next"/>
                <a:cs typeface="Avenir Next"/>
              </a:rPr>
              <a:t>bias +$21.6K</a:t>
            </a:r>
          </a:p>
        </p:txBody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A0222C6C-A9FD-4B46-B99A-AC7CC53D9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391150"/>
            <a:ext cx="36385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7647DB6D-9B2E-4E34-9826-E61D299F5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562600"/>
            <a:ext cx="971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1F7A63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1F7A63"/>
                </a:solidFill>
                <a:latin typeface="Avenir Next"/>
                <a:ea typeface="Avenir Next"/>
                <a:cs typeface="Avenir Next"/>
              </a:rPr>
              <a:t>Sonraki deney</a:t>
            </a:r>
          </a:p>
        </p:txBody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133A9259-C303-459D-949A-0828F3C22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514975"/>
            <a:ext cx="2209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Üst fiyat segmentine ağırlık, robust loss veya segment modeli.</a:t>
            </a:r>
          </a:p>
        </p:txBody>
      </p:sp>
    </p:spTree>
    <p:extLst>
      <p:ext uri="{BB962C8B-B14F-4D97-AF65-F5344CB8AC3E}">
        <p14:creationId xmlns:p14="http://schemas.microsoft.com/office/powerpoint/2010/main" val="2107723814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666DCC45-D825-445B-BCFE-41A95CD6C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5-marker">
            <a:extLst xmlns:a="http://schemas.openxmlformats.org/drawingml/2006/main">
              <a:ext uri="{FF2B5EF4-FFF2-40B4-BE49-F238E27FC236}">
                <a16:creationId xmlns:a16="http://schemas.microsoft.com/office/drawing/2014/main" id="{ABFB993D-6E1F-478F-B8A8-B4E1B3DC8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5-label">
            <a:extLst xmlns:a="http://schemas.openxmlformats.org/drawingml/2006/main">
              <a:ext uri="{FF2B5EF4-FFF2-40B4-BE49-F238E27FC236}">
                <a16:creationId xmlns:a16="http://schemas.microsoft.com/office/drawing/2014/main" id="{0C851E38-C69E-4D42-A7CC-63A383B1C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AEBAB7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AEBAB7"/>
                </a:solidFill>
                <a:latin typeface="Avenir Next"/>
                <a:ea typeface="Avenir Next"/>
                <a:cs typeface="Avenir Next"/>
              </a:rPr>
              <a:t>B A Z  M O D E L  K A R A R 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2E9B91-EADD-47B2-B119-3281E8831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8667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AFAF7"/>
                </a:solidFill>
                <a:latin typeface="Baskerville"/>
                <a:ea typeface="Baskerville"/>
                <a:cs typeface="Baskerville"/>
              </a:defRPr>
            </a:pPr>
            <a:r>
              <a:rPr sz="2850" b="1">
                <a:solidFill>
                  <a:srgbClr val="FAFAF7"/>
                </a:solidFill>
                <a:latin typeface="Baskerville"/>
                <a:ea typeface="Baskerville"/>
                <a:cs typeface="Baskerville"/>
              </a:rPr>
              <a:t>Ridge bugün güvenilir üretim bazı;</a:t>
            </a:r>
          </a:p>
          <a:p xmlns:a="http://schemas.openxmlformats.org/drawingml/2006/main">
            <a:pPr algn="l">
              <a:defRPr sz="2850" b="1">
                <a:solidFill>
                  <a:srgbClr val="FAFAF7"/>
                </a:solidFill>
                <a:latin typeface="Baskerville"/>
                <a:ea typeface="Baskerville"/>
                <a:cs typeface="Baskerville"/>
              </a:defRPr>
            </a:pPr>
            <a:r>
              <a:rPr sz="2850" b="1">
                <a:solidFill>
                  <a:srgbClr val="FAFAF7"/>
                </a:solidFill>
                <a:latin typeface="Baskerville"/>
                <a:ea typeface="Baskerville"/>
                <a:cs typeface="Baskerville"/>
              </a:rPr>
              <a:t>Elastic Net kontrollü takipçi.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B1F5CC-FE73-4503-B811-60CB54D96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2410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AFAF7"/>
                </a:solidFill>
                <a:latin typeface="Baskerville"/>
                <a:ea typeface="Baskerville"/>
                <a:cs typeface="Baskerville"/>
              </a:defRPr>
            </a:pPr>
            <a:r>
              <a:rPr sz="3450" b="1">
                <a:solidFill>
                  <a:srgbClr val="FAFAF7"/>
                </a:solidFill>
                <a:latin typeface="Baskerville"/>
                <a:ea typeface="Baskerville"/>
                <a:cs typeface="Baskerville"/>
              </a:rPr>
              <a:t>RIDGE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4A409E-C3F2-45DF-8B70-366BB61D7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9900"/>
            <a:ext cx="1905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D87941"/>
                </a:solidFill>
                <a:latin typeface="Baskerville"/>
                <a:ea typeface="Baskerville"/>
                <a:cs typeface="Baskerville"/>
              </a:defRPr>
            </a:pPr>
            <a:r>
              <a:rPr sz="3600" b="1">
                <a:solidFill>
                  <a:srgbClr val="D87941"/>
                </a:solidFill>
                <a:latin typeface="Baskerville"/>
                <a:ea typeface="Baskerville"/>
                <a:cs typeface="Baskerville"/>
              </a:rPr>
              <a:t>$26.3K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3B1AFF-F4AC-4A8B-9F79-D0E4BEC31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5760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EBAB7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AEBAB7"/>
                </a:solidFill>
                <a:latin typeface="Avenir Next"/>
                <a:ea typeface="Avenir Next"/>
                <a:cs typeface="Avenir Next"/>
              </a:rPr>
              <a:t>kayıtlı validation RMSE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2AB0F9-2B9A-4163-8559-C54299BCB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38600"/>
            <a:ext cx="3295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$17.4K MAE  ·  %14.6 RMSE / ortalama fiyat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CFE653-B279-4F7E-B1A0-1FD2FD42C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52950"/>
            <a:ext cx="323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EBAB7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AEBAB7"/>
                </a:solidFill>
                <a:latin typeface="Avenir Next"/>
                <a:ea typeface="Avenir Next"/>
                <a:cs typeface="Avenir Next"/>
              </a:rPr>
              <a:t>Basit, deterministik, açıklanabilir ve mevcut MLflow akışında kayıtlı.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C19843-B112-4C34-9E1F-294113E2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152650"/>
            <a:ext cx="9525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1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842166-0241-4659-BF0E-F81531D37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171700"/>
            <a:ext cx="590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88CAA6-CBFA-4666-AE5E-1763F5DD3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343150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AFAF7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FAFAF7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351D98-91B7-4BF4-B7DB-C5E72AE2A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17170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D87941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D87941"/>
                </a:solidFill>
                <a:latin typeface="Avenir Next"/>
                <a:ea typeface="Avenir Next"/>
                <a:cs typeface="Avenir Next"/>
              </a:rPr>
              <a:t>BASELINE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4EF4AF-32A4-4694-87B2-172A507F4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40030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AFAF7"/>
                </a:solidFill>
                <a:latin typeface="Baskerville"/>
                <a:ea typeface="Baskerville"/>
                <a:cs typeface="Baskerville"/>
              </a:defRPr>
            </a:pPr>
            <a:r>
              <a:rPr sz="1275" b="1">
                <a:solidFill>
                  <a:srgbClr val="FAFAF7"/>
                </a:solidFill>
                <a:latin typeface="Baskerville"/>
                <a:ea typeface="Baskerville"/>
                <a:cs typeface="Baskerville"/>
              </a:rPr>
              <a:t>Ridge@candidate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AD320B-4CBF-4B35-AA1A-B4BA9A3E3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4003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EBAB7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AEBAB7"/>
                </a:solidFill>
                <a:latin typeface="Avenir Next"/>
                <a:ea typeface="Avenir Next"/>
                <a:cs typeface="Avenir Next"/>
              </a:rPr>
              <a:t>bugünkü referans</a:t>
            </a:r>
          </a:p>
        </p:txBody>
      </p:sp>
      <p:sp>
        <p:nvSpPr>
          <p:cNvPr id="16" name="decision-connector-1">
            <a:extLst xmlns:a="http://schemas.openxmlformats.org/drawingml/2006/main">
              <a:ext uri="{FF2B5EF4-FFF2-40B4-BE49-F238E27FC236}">
                <a16:creationId xmlns:a16="http://schemas.microsoft.com/office/drawing/2014/main" id="{0C823180-E7AB-4766-BCB5-C85ABC149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724150"/>
            <a:ext cx="19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60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786F8B-73E5-42A7-8A04-0F91F1DCF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009900"/>
            <a:ext cx="590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4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F53428-D667-4E91-93B1-458E4D992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181350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AFAF7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FAFAF7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AF4F34-9E20-4703-9CF5-1A475BAAD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00990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E6C15A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E6C15A"/>
                </a:solidFill>
                <a:latin typeface="Avenir Next"/>
                <a:ea typeface="Avenir Next"/>
                <a:cs typeface="Avenir Next"/>
              </a:rPr>
              <a:t>CHALLENGER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7BEEBE-7A69-46D3-A040-89314411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23850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AFAF7"/>
                </a:solidFill>
                <a:latin typeface="Baskerville"/>
                <a:ea typeface="Baskerville"/>
                <a:cs typeface="Baskerville"/>
              </a:defRPr>
            </a:pPr>
            <a:r>
              <a:rPr sz="1275" b="1">
                <a:solidFill>
                  <a:srgbClr val="FAFAF7"/>
                </a:solidFill>
                <a:latin typeface="Baskerville"/>
                <a:ea typeface="Baskerville"/>
                <a:cs typeface="Baskerville"/>
              </a:rPr>
              <a:t>Elastic Net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61DD7F-8156-4824-95BB-5A74ADF54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2385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EBAB7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AEBAB7"/>
                </a:solidFill>
                <a:latin typeface="Avenir Next"/>
                <a:ea typeface="Avenir Next"/>
                <a:cs typeface="Avenir Next"/>
              </a:rPr>
              <a:t>&lt;%1 fark; CV ile doğrula</a:t>
            </a:r>
          </a:p>
        </p:txBody>
      </p:sp>
      <p:sp>
        <p:nvSpPr>
          <p:cNvPr id="22" name="decision-connector-2">
            <a:extLst xmlns:a="http://schemas.openxmlformats.org/drawingml/2006/main">
              <a:ext uri="{FF2B5EF4-FFF2-40B4-BE49-F238E27FC236}">
                <a16:creationId xmlns:a16="http://schemas.microsoft.com/office/drawing/2014/main" id="{130FDDCD-15F1-4CF5-A311-DDFD97898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562350"/>
            <a:ext cx="19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60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BC1739-3035-4619-B5AE-0F966D01B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848100"/>
            <a:ext cx="590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4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ACDCA7-7A9B-47A8-8ABE-48A3273E3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019550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AFAF7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FAFAF7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DC5ACF-FEBB-49BD-A29B-D6409AC34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84810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E6C15A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E6C15A"/>
                </a:solidFill>
                <a:latin typeface="Avenir Next"/>
                <a:ea typeface="Avenir Next"/>
                <a:cs typeface="Avenir Next"/>
              </a:rPr>
              <a:t>EXPERIMENT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84A550-5826-42E3-8F81-3732E7702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07670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AFAF7"/>
                </a:solidFill>
                <a:latin typeface="Baskerville"/>
                <a:ea typeface="Baskerville"/>
                <a:cs typeface="Baskerville"/>
              </a:defRPr>
            </a:pPr>
            <a:r>
              <a:rPr sz="1275" b="1">
                <a:solidFill>
                  <a:srgbClr val="FAFAF7"/>
                </a:solidFill>
                <a:latin typeface="Baskerville"/>
                <a:ea typeface="Baskerville"/>
                <a:cs typeface="Baskerville"/>
              </a:rPr>
              <a:t>segment / robust loss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81F496-5923-4C18-B8C8-779E97D36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0767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EBAB7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AEBAB7"/>
                </a:solidFill>
                <a:latin typeface="Avenir Next"/>
                <a:ea typeface="Avenir Next"/>
                <a:cs typeface="Avenir Next"/>
              </a:rPr>
              <a:t>üst çeyrek hatasını hedefle</a:t>
            </a:r>
          </a:p>
        </p:txBody>
      </p:sp>
      <p:sp>
        <p:nvSpPr>
          <p:cNvPr id="28" name="decision-connector-3">
            <a:extLst xmlns:a="http://schemas.openxmlformats.org/drawingml/2006/main">
              <a:ext uri="{FF2B5EF4-FFF2-40B4-BE49-F238E27FC236}">
                <a16:creationId xmlns:a16="http://schemas.microsoft.com/office/drawing/2014/main" id="{2B55CE4E-A254-472A-829E-34B66DC2F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400550"/>
            <a:ext cx="19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60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395311-60A3-4EB4-84F2-2B0B9DB8B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686300"/>
            <a:ext cx="590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4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AC6FF1-F7BA-4605-BB22-2B3114654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857750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AFAF7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FAFAF7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604A5E-757F-4027-98C0-DB08872E2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68630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E6C15A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E6C15A"/>
                </a:solidFill>
                <a:latin typeface="Avenir Next"/>
                <a:ea typeface="Avenir Next"/>
                <a:cs typeface="Avenir Next"/>
              </a:rPr>
              <a:t>MLOPS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63801F5-9ADF-4FD5-8A8A-67AADCBFC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91490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AFAF7"/>
                </a:solidFill>
                <a:latin typeface="Baskerville"/>
                <a:ea typeface="Baskerville"/>
                <a:cs typeface="Baskerville"/>
              </a:defRPr>
            </a:pPr>
            <a:r>
              <a:rPr sz="1275" b="1">
                <a:solidFill>
                  <a:srgbClr val="FAFAF7"/>
                </a:solidFill>
                <a:latin typeface="Baskerville"/>
                <a:ea typeface="Baskerville"/>
                <a:cs typeface="Baskerville"/>
              </a:rPr>
              <a:t>registry + drift + promotion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64EA5EB-2F95-4B97-B04D-9C8BF1546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9149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EBAB7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AEBAB7"/>
                </a:solidFill>
                <a:latin typeface="Avenir Next"/>
                <a:ea typeface="Avenir Next"/>
                <a:cs typeface="Avenir Next"/>
              </a:rPr>
              <a:t>kanıtla terfi ettir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DD688F9-9C78-4D25-A5DF-F664DF214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657850"/>
            <a:ext cx="6134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0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FF711F3-ADC5-4CBD-9AA5-4779102FD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810250"/>
            <a:ext cx="81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E6C15A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E6C15A"/>
                </a:solidFill>
                <a:latin typeface="Avenir Next"/>
                <a:ea typeface="Avenir Next"/>
                <a:cs typeface="Avenir Next"/>
              </a:rPr>
              <a:t>Terfi kuralı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954E2DA-68F9-4711-9040-C89D1C52A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781675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AFAF7"/>
                </a:solidFill>
                <a:latin typeface="Avenir Next"/>
                <a:ea typeface="Avenir Next"/>
                <a:cs typeface="Avenir Next"/>
              </a:defRPr>
            </a:pPr>
            <a:r>
              <a:rPr sz="863" b="1">
                <a:solidFill>
                  <a:srgbClr val="FAFAF7"/>
                </a:solidFill>
                <a:latin typeface="Avenir Next"/>
                <a:ea typeface="Avenir Next"/>
                <a:cs typeface="Avenir Next"/>
              </a:rPr>
              <a:t>Bağımsız test + operasyonel sadelik + izlenebilirlik birlikte kazanmalı.</a:t>
            </a:r>
          </a:p>
        </p:txBody>
      </p:sp>
      <p:sp>
        <p:nvSpPr>
          <p:cNvPr id="3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EFD01BA-27E2-4670-BD4D-45782E237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1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458E2026-A082-4575-9D87-6C309C6EC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9906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0" b="0">
                <a:solidFill>
                  <a:srgbClr val="9CA9A6"/>
                </a:solidFill>
                <a:latin typeface="Avenir Next"/>
                <a:ea typeface="Avenir Next"/>
                <a:cs typeface="Avenir Next"/>
              </a:defRPr>
            </a:pPr>
            <a:r>
              <a:rPr sz="570" b="0">
                <a:solidFill>
                  <a:srgbClr val="9CA9A6"/>
                </a:solidFill>
                <a:latin typeface="Avenir Next"/>
                <a:ea typeface="Avenir Next"/>
                <a:cs typeface="Avenir Next"/>
              </a:rPr>
              <a:t>Kaynak: artifacts/best_model_metrics.json · MLflow alias: HousePriceModel@candidate</a:t>
            </a:r>
          </a:p>
        </p:txBody>
      </p:sp>
      <p:sp>
        <p:nvSpPr>
          <p:cNvPr id="39" name="page-marker">
            <a:extLst xmlns:a="http://schemas.openxmlformats.org/drawingml/2006/main">
              <a:ext uri="{FF2B5EF4-FFF2-40B4-BE49-F238E27FC236}">
                <a16:creationId xmlns:a16="http://schemas.microsoft.com/office/drawing/2014/main" id="{D1036FBC-5E68-4639-8B76-91DCE8F26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510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F4F0E8"/>
                </a:solidFill>
                <a:latin typeface="Baskerville"/>
                <a:ea typeface="Baskerville"/>
                <a:cs typeface="Baskerville"/>
              </a:defRPr>
            </a:pPr>
            <a:r>
              <a:rPr sz="788" b="1">
                <a:solidFill>
                  <a:srgbClr val="F4F0E8"/>
                </a:solidFill>
                <a:latin typeface="Baskerville"/>
                <a:ea typeface="Baskerville"/>
                <a:cs typeface="Baskerville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441900162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58D4B74D-5F35-40D3-84B6-FE10AFD8F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6-marker">
            <a:extLst xmlns:a="http://schemas.openxmlformats.org/drawingml/2006/main">
              <a:ext uri="{FF2B5EF4-FFF2-40B4-BE49-F238E27FC236}">
                <a16:creationId xmlns:a16="http://schemas.microsoft.com/office/drawing/2014/main" id="{894E23FC-CCD4-4A4D-B5FD-93D098C00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6-label">
            <a:extLst xmlns:a="http://schemas.openxmlformats.org/drawingml/2006/main">
              <a:ext uri="{FF2B5EF4-FFF2-40B4-BE49-F238E27FC236}">
                <a16:creationId xmlns:a16="http://schemas.microsoft.com/office/drawing/2014/main" id="{44939102-2384-4565-9C9B-330F849D9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06C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6706C"/>
                </a:solidFill>
                <a:latin typeface="Avenir Next"/>
                <a:ea typeface="Avenir Next"/>
                <a:cs typeface="Avenir Next"/>
              </a:rPr>
              <a:t>A N L A T I M   R E H B E R I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A2BB3D8D-25AB-4B6B-BB85-A9DED73D4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90575"/>
            <a:ext cx="9620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2022"/>
                </a:solidFill>
                <a:latin typeface="Baskerville"/>
                <a:ea typeface="Baskerville"/>
                <a:cs typeface="Baskerville"/>
              </a:defRPr>
            </a:pPr>
            <a:r>
              <a:rPr sz="2700" b="1">
                <a:solidFill>
                  <a:srgbClr val="152022"/>
                </a:solidFill>
                <a:latin typeface="Baskerville"/>
                <a:ea typeface="Baskerville"/>
                <a:cs typeface="Baskerville"/>
              </a:rPr>
              <a:t>Sonuçtan başlayın; her kararı tek bir kanıtla savunun.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A5DE7EA-D7FB-4911-8AAE-41B5F5197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5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05BC8667-660C-46DF-9CE6-9B73D1A9F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9906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0" b="0">
                <a:solidFill>
                  <a:srgbClr val="66706C"/>
                </a:solidFill>
                <a:latin typeface="Avenir Next"/>
                <a:ea typeface="Avenir Next"/>
                <a:cs typeface="Avenir Next"/>
              </a:defRPr>
            </a:pPr>
            <a:r>
              <a:rPr sz="570" b="0">
                <a:solidFill>
                  <a:srgbClr val="66706C"/>
                </a:solidFill>
                <a:latin typeface="Avenir Next"/>
                <a:ea typeface="Avenir Next"/>
                <a:cs typeface="Avenir Next"/>
              </a:rPr>
              <a:t>Önerilen süre: 10–12 dakika + 3 dakika soru-cevap</a:t>
            </a:r>
          </a:p>
        </p:txBody>
      </p:sp>
      <p:sp>
        <p:nvSpPr>
          <p:cNvPr id="7" name="page-marker">
            <a:extLst xmlns:a="http://schemas.openxmlformats.org/drawingml/2006/main">
              <a:ext uri="{FF2B5EF4-FFF2-40B4-BE49-F238E27FC236}">
                <a16:creationId xmlns:a16="http://schemas.microsoft.com/office/drawing/2014/main" id="{722CFD4D-1750-48E0-B7F1-DD705A44B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510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66706C"/>
                </a:solidFill>
                <a:latin typeface="Baskerville"/>
                <a:ea typeface="Baskerville"/>
                <a:cs typeface="Baskerville"/>
              </a:defRPr>
            </a:pPr>
            <a:r>
              <a:rPr sz="788" b="1">
                <a:solidFill>
                  <a:srgbClr val="66706C"/>
                </a:solidFill>
                <a:latin typeface="Baskerville"/>
                <a:ea typeface="Baskerville"/>
                <a:cs typeface="Baskerville"/>
              </a:rPr>
              <a:t>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33FEE6-D7B5-41DE-BEF1-4AA9D70A8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67050"/>
            <a:ext cx="685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5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373FE8-8DCD-4FFE-9493-C356AA382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821BC6-3C63-4094-8BF8-626038CC6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037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AFAF7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FAFAF7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F472E3-6DD8-45F1-8200-9C8AB0DB2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38400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66706C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66706C"/>
                </a:solidFill>
                <a:latin typeface="Avenir Next"/>
                <a:ea typeface="Avenir Next"/>
                <a:cs typeface="Avenir Next"/>
              </a:rPr>
              <a:t>0–1 dk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37D663-9165-4A1B-A6CB-647BA00CB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Problem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344F9C-A534-4BED-B212-F7256588F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771900"/>
            <a:ext cx="123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66706C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66706C"/>
                </a:solidFill>
                <a:latin typeface="Avenir Next"/>
                <a:ea typeface="Avenir Next"/>
                <a:cs typeface="Avenir Next"/>
              </a:rPr>
              <a:t>Neyi tahmin ediyoruz, başarı metriği ne?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78FEAC-6B55-4337-B169-0E677C2E2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9146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F0581A-33D5-4ACA-98BE-6421FF15F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00037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AFAF7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FAFAF7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7306CB-1BCD-4D39-99B0-FD68923AF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438400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66706C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66706C"/>
                </a:solidFill>
                <a:latin typeface="Avenir Next"/>
                <a:ea typeface="Avenir Next"/>
                <a:cs typeface="Avenir Next"/>
              </a:rPr>
              <a:t>1–4 dk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4FA85C-0188-48B9-8C1B-76853C3F3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4671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Veri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E14F66-5044-4524-B0D9-7F25209E4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771900"/>
            <a:ext cx="123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66706C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66706C"/>
                </a:solidFill>
                <a:latin typeface="Avenir Next"/>
                <a:ea typeface="Avenir Next"/>
                <a:cs typeface="Avenir Next"/>
              </a:rPr>
              <a:t>split, cleaning, dağılım, outlier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6FB5A9-8E8E-4269-8594-5CCCA9F2E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9146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D9924D-7B35-4BBD-8BE0-7B033B61A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0037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AFAF7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FAFAF7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D53306-1B22-4EC5-B32C-0A1B24112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438400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66706C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66706C"/>
                </a:solidFill>
                <a:latin typeface="Avenir Next"/>
                <a:ea typeface="Avenir Next"/>
                <a:cs typeface="Avenir Next"/>
              </a:rPr>
              <a:t>4–7 dk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3E8BA8-C247-457F-81E6-7F4FAC71D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4671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Sinyal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C35A49-0BAE-4265-BBB9-903AAC01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771900"/>
            <a:ext cx="123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66706C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66706C"/>
                </a:solidFill>
                <a:latin typeface="Avenir Next"/>
                <a:ea typeface="Avenir Next"/>
                <a:cs typeface="Avenir Next"/>
              </a:rPr>
              <a:t>korelasyon, kategorik etki, feature seçimi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24A830-3AFD-4BC8-B434-732280098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9146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DAAABC-71DF-44F2-AD2D-C57BEA609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0037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AFAF7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FAFAF7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52D92F-3D25-4D7F-A01E-5179D2BF4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38400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66706C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66706C"/>
                </a:solidFill>
                <a:latin typeface="Avenir Next"/>
                <a:ea typeface="Avenir Next"/>
                <a:cs typeface="Avenir Next"/>
              </a:rPr>
              <a:t>7–10 dk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1BCBED-AE26-4921-9413-ABF93B690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4671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Deney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CD90E1-4341-4FF7-8CA3-A6568F099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771900"/>
            <a:ext cx="123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66706C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66706C"/>
                </a:solidFill>
                <a:latin typeface="Avenir Next"/>
                <a:ea typeface="Avenir Next"/>
                <a:cs typeface="Avenir Next"/>
              </a:rPr>
              <a:t>feature ve model karşılaştırması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6902FD-ADFF-4E6B-847E-AB0B39C31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9146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D33A8C-4D84-426A-8C96-D085F4B6A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00037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AFAF7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FAFAF7"/>
                </a:solidFill>
                <a:latin typeface="Avenir Next"/>
                <a:ea typeface="Avenir Next"/>
                <a:cs typeface="Avenir Next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4983A71-B503-4ECD-BD5B-2C9143C10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438400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66706C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66706C"/>
                </a:solidFill>
                <a:latin typeface="Avenir Next"/>
                <a:ea typeface="Avenir Next"/>
                <a:cs typeface="Avenir Next"/>
              </a:rPr>
              <a:t>10–12 dk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790B46-ADEF-43F5-A380-0596117E2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4671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52022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152022"/>
                </a:solidFill>
                <a:latin typeface="Avenir Next"/>
                <a:ea typeface="Avenir Next"/>
                <a:cs typeface="Avenir Next"/>
              </a:rPr>
              <a:t>Karar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0EC948-1B06-4926-895D-F14741D48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771900"/>
            <a:ext cx="123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66706C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66706C"/>
                </a:solidFill>
                <a:latin typeface="Avenir Next"/>
                <a:ea typeface="Avenir Next"/>
                <a:cs typeface="Avenir Next"/>
              </a:rPr>
              <a:t>Ridge, hata analizi, MLOps handoff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7291E05-1590-46A7-96D4-37BA074B9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95500"/>
            <a:ext cx="251460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5A957BD-3E05-4964-9979-780C0FB69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32410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E6C15A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E6C15A"/>
                </a:solidFill>
                <a:latin typeface="Avenir Next"/>
                <a:ea typeface="Avenir Next"/>
                <a:cs typeface="Avenir Next"/>
              </a:rPr>
              <a:t>SORULABİLECEKLER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274CC9B-5E77-415B-8F92-BBB191E73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81300"/>
            <a:ext cx="28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D87941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D87941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188298D-15C9-44D1-951E-B82A706B6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78130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AFAF7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FAFAF7"/>
                </a:solidFill>
                <a:latin typeface="Avenir Next"/>
                <a:ea typeface="Avenir Next"/>
                <a:cs typeface="Avenir Next"/>
              </a:rPr>
              <a:t>Neden RMSE ana metrik?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F3EC672-6E72-4BD2-802D-D498D6355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124200"/>
            <a:ext cx="171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1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2A58ABC-731E-462A-A024-1101677C7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19450"/>
            <a:ext cx="28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D87941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D87941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8C8ED89-3941-4820-A154-0E3E96553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2194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AFAF7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FAFAF7"/>
                </a:solidFill>
                <a:latin typeface="Avenir Next"/>
                <a:ea typeface="Avenir Next"/>
                <a:cs typeface="Avenir Next"/>
              </a:rPr>
              <a:t>Outlier'ları neden silmediniz?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1D5B6DB-E5EE-452F-BFC3-224D31AE6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562350"/>
            <a:ext cx="171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1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C0D6D8D-3E98-4FC5-BC67-B23053D5E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657600"/>
            <a:ext cx="28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D87941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D87941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35EAD86-E7A0-4E93-92AE-656E6BC4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65760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AFAF7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FAFAF7"/>
                </a:solidFill>
                <a:latin typeface="Avenir Next"/>
                <a:ea typeface="Avenir Next"/>
                <a:cs typeface="Avenir Next"/>
              </a:rPr>
              <a:t>Gradient Boosting neden seçilmedi?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4C9FBD1-3C3F-4880-A1D9-7F1D583FC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000500"/>
            <a:ext cx="171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1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54D05F9-03AC-4485-96F5-6465CEEF0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95750"/>
            <a:ext cx="28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D87941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D87941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E212366-6996-4671-8E34-7E94C6AE9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0957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AFAF7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FAFAF7"/>
                </a:solidFill>
                <a:latin typeface="Avenir Next"/>
                <a:ea typeface="Avenir Next"/>
                <a:cs typeface="Avenir Next"/>
              </a:rPr>
              <a:t>Feature engineering neden kazandırmadı?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E2A467B-1CC2-4055-901E-117FAF774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438650"/>
            <a:ext cx="171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1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690A0F5-0BEC-4F5E-BEF5-D7F11778D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533900"/>
            <a:ext cx="28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D87941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D87941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A07FEF2-3A7C-40DF-979F-CF892523D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53390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AFAF7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FAFAF7"/>
                </a:solidFill>
                <a:latin typeface="Avenir Next"/>
                <a:ea typeface="Avenir Next"/>
                <a:cs typeface="Avenir Next"/>
              </a:rPr>
              <a:t>Leakage nasıl engellendi?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37B9529-C5F7-4ACE-9F87-C471F5171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790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4F9F5A0-B7A0-446C-9759-8B7DA00F7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53075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F7A63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1F7A63"/>
                </a:solidFill>
                <a:latin typeface="Avenir Next"/>
                <a:ea typeface="Avenir Next"/>
                <a:cs typeface="Avenir Next"/>
              </a:rPr>
              <a:t>Kapanış cümlesi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28449F5-8760-42D6-BBA2-C02265492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514975"/>
            <a:ext cx="619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2022"/>
                </a:solidFill>
                <a:latin typeface="Baskerville"/>
                <a:ea typeface="Baskerville"/>
                <a:cs typeface="Baskerville"/>
              </a:defRPr>
            </a:pPr>
            <a:r>
              <a:rPr sz="1050" b="1">
                <a:solidFill>
                  <a:srgbClr val="152022"/>
                </a:solidFill>
                <a:latin typeface="Baskerville"/>
                <a:ea typeface="Baskerville"/>
                <a:cs typeface="Baskerville"/>
              </a:rPr>
              <a:t>“En karmaşık modeli değil, bağımsız veride en güvenilir başlangıç çizgisini kurduk.”</a:t>
            </a:r>
          </a:p>
        </p:txBody>
      </p:sp>
    </p:spTree>
    <p:extLst>
      <p:ext uri="{BB962C8B-B14F-4D97-AF65-F5344CB8AC3E}">
        <p14:creationId xmlns:p14="http://schemas.microsoft.com/office/powerpoint/2010/main" val="17201564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2026-08-11T06:53:07.8780000Z</dcterms:created>
  <dcterms:modified xsi:type="dcterms:W3CDTF">2026-08-11T06:53:07.8780000Z</dcterms:modified>
</coreProperties>
</file>